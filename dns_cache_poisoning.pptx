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822960" cy="36576"/>
          </a:xfrm>
          <a:prstGeom prst="rect">
            <a:avLst/>
          </a:prstGeom>
          <a:solidFill>
            <a:srgbClr val="00D4FF">
              <a:alpha val="30000"/>
            </a:srgbClr>
          </a:solidFill>
          <a:ln w="12700">
            <a:solidFill>
              <a:srgbClr val="00D4FF">
                <a:alpha val="30000"/>
              </a:srgbClr>
            </a:solidFill>
            <a:prstDash val="solid"/>
          </a:ln>
        </p:spPr>
      </p:sp>
      <p:sp>
        <p:nvSpPr>
          <p:cNvPr id="3" name="Shape 1"/>
          <p:cNvSpPr/>
          <p:nvPr/>
        </p:nvSpPr>
        <p:spPr>
          <a:xfrm>
            <a:off x="1645920" y="0"/>
            <a:ext cx="822960" cy="36576"/>
          </a:xfrm>
          <a:prstGeom prst="rect">
            <a:avLst/>
          </a:prstGeom>
          <a:solidFill>
            <a:srgbClr val="00D4FF">
              <a:alpha val="30000"/>
            </a:srgbClr>
          </a:solidFill>
          <a:ln w="12700">
            <a:solidFill>
              <a:srgbClr val="00D4FF">
                <a:alpha val="30000"/>
              </a:srgbClr>
            </a:solidFill>
            <a:prstDash val="solid"/>
          </a:ln>
        </p:spPr>
      </p:sp>
      <p:sp>
        <p:nvSpPr>
          <p:cNvPr id="4" name="Shape 2"/>
          <p:cNvSpPr/>
          <p:nvPr/>
        </p:nvSpPr>
        <p:spPr>
          <a:xfrm>
            <a:off x="3291840" y="0"/>
            <a:ext cx="822960" cy="36576"/>
          </a:xfrm>
          <a:prstGeom prst="rect">
            <a:avLst/>
          </a:prstGeom>
          <a:solidFill>
            <a:srgbClr val="00D4FF">
              <a:alpha val="30000"/>
            </a:srgbClr>
          </a:solidFill>
          <a:ln w="12700">
            <a:solidFill>
              <a:srgbClr val="00D4FF">
                <a:alpha val="30000"/>
              </a:srgbClr>
            </a:solidFill>
            <a:prstDash val="solid"/>
          </a:ln>
        </p:spPr>
      </p:sp>
      <p:sp>
        <p:nvSpPr>
          <p:cNvPr id="5" name="Shape 3"/>
          <p:cNvSpPr/>
          <p:nvPr/>
        </p:nvSpPr>
        <p:spPr>
          <a:xfrm>
            <a:off x="4937760" y="0"/>
            <a:ext cx="822960" cy="36576"/>
          </a:xfrm>
          <a:prstGeom prst="rect">
            <a:avLst/>
          </a:prstGeom>
          <a:solidFill>
            <a:srgbClr val="00D4FF">
              <a:alpha val="30000"/>
            </a:srgbClr>
          </a:solidFill>
          <a:ln w="12700">
            <a:solidFill>
              <a:srgbClr val="00D4FF">
                <a:alpha val="30000"/>
              </a:srgbClr>
            </a:solidFill>
            <a:prstDash val="solid"/>
          </a:ln>
        </p:spPr>
      </p:sp>
      <p:sp>
        <p:nvSpPr>
          <p:cNvPr id="6" name="Shape 4"/>
          <p:cNvSpPr/>
          <p:nvPr/>
        </p:nvSpPr>
        <p:spPr>
          <a:xfrm>
            <a:off x="6583680" y="0"/>
            <a:ext cx="822960" cy="36576"/>
          </a:xfrm>
          <a:prstGeom prst="rect">
            <a:avLst/>
          </a:prstGeom>
          <a:solidFill>
            <a:srgbClr val="00D4FF">
              <a:alpha val="30000"/>
            </a:srgbClr>
          </a:solidFill>
          <a:ln w="12700">
            <a:solidFill>
              <a:srgbClr val="00D4FF">
                <a:alpha val="30000"/>
              </a:srgbClr>
            </a:solidFill>
            <a:prstDash val="solid"/>
          </a:ln>
        </p:spPr>
      </p:sp>
      <p:sp>
        <p:nvSpPr>
          <p:cNvPr id="7" name="Shape 5"/>
          <p:cNvSpPr/>
          <p:nvPr/>
        </p:nvSpPr>
        <p:spPr>
          <a:xfrm>
            <a:off x="8229600" y="0"/>
            <a:ext cx="822960" cy="36576"/>
          </a:xfrm>
          <a:prstGeom prst="rect">
            <a:avLst/>
          </a:prstGeom>
          <a:solidFill>
            <a:srgbClr val="00D4FF">
              <a:alpha val="30000"/>
            </a:srgbClr>
          </a:solidFill>
          <a:ln w="12700">
            <a:solidFill>
              <a:srgbClr val="00D4FF">
                <a:alpha val="30000"/>
              </a:srgbClr>
            </a:solidFill>
            <a:prstDash val="solid"/>
          </a:ln>
        </p:spPr>
      </p:sp>
      <p:sp>
        <p:nvSpPr>
          <p:cNvPr id="8" name="Shape 6"/>
          <p:cNvSpPr/>
          <p:nvPr/>
        </p:nvSpPr>
        <p:spPr>
          <a:xfrm>
            <a:off x="457200" y="1371600"/>
            <a:ext cx="54864" cy="2560320"/>
          </a:xfrm>
          <a:prstGeom prst="rect">
            <a:avLst/>
          </a:prstGeom>
          <a:solidFill>
            <a:srgbClr val="00D4FF"/>
          </a:solidFill>
          <a:ln w="12700">
            <a:solidFill>
              <a:srgbClr val="00D4FF"/>
            </a:solidFill>
            <a:prstDash val="solid"/>
          </a:ln>
        </p:spPr>
      </p:sp>
      <p:sp>
        <p:nvSpPr>
          <p:cNvPr id="9" name="Text 7"/>
          <p:cNvSpPr/>
          <p:nvPr/>
        </p:nvSpPr>
        <p:spPr>
          <a:xfrm>
            <a:off x="685800" y="1325880"/>
            <a:ext cx="7772400" cy="1005840"/>
          </a:xfrm>
          <a:prstGeom prst="rect">
            <a:avLst/>
          </a:prstGeom>
          <a:noFill/>
          <a:ln/>
        </p:spPr>
        <p:txBody>
          <a:bodyPr wrap="square" lIns="0" tIns="0" rIns="0" bIns="0" rtlCol="0" anchor="ctr"/>
          <a:lstStyle/>
          <a:p>
            <a:pPr indent="0" marL="0">
              <a:buNone/>
            </a:pPr>
            <a:r>
              <a:rPr lang="en-US" sz="4200" b="1" dirty="0">
                <a:solidFill>
                  <a:srgbClr val="FFFFFF"/>
                </a:solidFill>
                <a:latin typeface="Consolas" pitchFamily="34" charset="0"/>
                <a:ea typeface="Consolas" pitchFamily="34" charset="-122"/>
                <a:cs typeface="Consolas" pitchFamily="34" charset="-120"/>
              </a:rPr>
              <a:t>DNS Cache Poisoning</a:t>
            </a:r>
            <a:endParaRPr lang="en-US" sz="4200" dirty="0"/>
          </a:p>
        </p:txBody>
      </p:sp>
      <p:sp>
        <p:nvSpPr>
          <p:cNvPr id="10" name="Text 8"/>
          <p:cNvSpPr/>
          <p:nvPr/>
        </p:nvSpPr>
        <p:spPr>
          <a:xfrm>
            <a:off x="685800" y="2423160"/>
            <a:ext cx="7772400" cy="502920"/>
          </a:xfrm>
          <a:prstGeom prst="rect">
            <a:avLst/>
          </a:prstGeom>
          <a:noFill/>
          <a:ln/>
        </p:spPr>
        <p:txBody>
          <a:bodyPr wrap="square" lIns="0" tIns="0" rIns="0" bIns="0" rtlCol="0" anchor="ctr"/>
          <a:lstStyle/>
          <a:p>
            <a:pPr indent="0" marL="0">
              <a:buNone/>
            </a:pPr>
            <a:r>
              <a:rPr lang="en-US" sz="1800" i="1" dirty="0">
                <a:solidFill>
                  <a:srgbClr val="00D4FF"/>
                </a:solidFill>
                <a:latin typeface="Calibri" pitchFamily="34" charset="0"/>
                <a:ea typeface="Calibri" pitchFamily="34" charset="-122"/>
                <a:cs typeface="Calibri" pitchFamily="34" charset="-120"/>
              </a:rPr>
              <a:t>Understanding &amp; Mitigating the Kaminsky Bug</a:t>
            </a:r>
            <a:endParaRPr lang="en-US" sz="1800" dirty="0"/>
          </a:p>
        </p:txBody>
      </p:sp>
      <p:sp>
        <p:nvSpPr>
          <p:cNvPr id="11" name="Shape 9"/>
          <p:cNvSpPr/>
          <p:nvPr/>
        </p:nvSpPr>
        <p:spPr>
          <a:xfrm>
            <a:off x="685800" y="3035808"/>
            <a:ext cx="5029200" cy="27432"/>
          </a:xfrm>
          <a:prstGeom prst="rect">
            <a:avLst/>
          </a:prstGeom>
          <a:solidFill>
            <a:srgbClr val="1E3A5F"/>
          </a:solidFill>
          <a:ln w="12700">
            <a:solidFill>
              <a:srgbClr val="1E3A5F"/>
            </a:solidFill>
            <a:prstDash val="solid"/>
          </a:ln>
        </p:spPr>
      </p:sp>
      <p:sp>
        <p:nvSpPr>
          <p:cNvPr id="12" name="Text 10"/>
          <p:cNvSpPr/>
          <p:nvPr/>
        </p:nvSpPr>
        <p:spPr>
          <a:xfrm>
            <a:off x="685800" y="3200400"/>
            <a:ext cx="7772400" cy="36576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Presenter: </a:t>
            </a:r>
            <a:pPr indent="0" marL="0">
              <a:buNone/>
            </a:pPr>
            <a:r>
              <a:rPr lang="en-US" sz="1300" dirty="0">
                <a:solidFill>
                  <a:srgbClr val="E2E8F0"/>
                </a:solidFill>
                <a:latin typeface="Calibri" pitchFamily="34" charset="0"/>
                <a:ea typeface="Calibri" pitchFamily="34" charset="-122"/>
                <a:cs typeface="Calibri" pitchFamily="34" charset="-120"/>
              </a:rPr>
              <a:t>Dhruv</a:t>
            </a:r>
            <a:pPr indent="0" marL="0">
              <a:buNone/>
            </a:pPr>
            <a:r>
              <a:rPr lang="en-US" sz="1300" dirty="0">
                <a:solidFill>
                  <a:srgbClr val="1E3A5F"/>
                </a:solidFill>
                <a:latin typeface="Calibri" pitchFamily="34" charset="0"/>
                <a:ea typeface="Calibri" pitchFamily="34" charset="-122"/>
                <a:cs typeface="Calibri" pitchFamily="34" charset="-120"/>
              </a:rPr>
              <a:t>     |     </a:t>
            </a:r>
            <a:pPr indent="0" marL="0">
              <a:buNone/>
            </a:pPr>
            <a:r>
              <a:rPr lang="en-US" sz="1300" b="1" dirty="0">
                <a:solidFill>
                  <a:srgbClr val="94A3B8"/>
                </a:solidFill>
                <a:latin typeface="Calibri" pitchFamily="34" charset="0"/>
                <a:ea typeface="Calibri" pitchFamily="34" charset="-122"/>
                <a:cs typeface="Calibri" pitchFamily="34" charset="-120"/>
              </a:rPr>
              <a:t>Course: </a:t>
            </a:r>
            <a:pPr indent="0" marL="0">
              <a:buNone/>
            </a:pPr>
            <a:r>
              <a:rPr lang="en-US" sz="1300" dirty="0">
                <a:solidFill>
                  <a:srgbClr val="E2E8F0"/>
                </a:solidFill>
                <a:latin typeface="Calibri" pitchFamily="34" charset="0"/>
                <a:ea typeface="Calibri" pitchFamily="34" charset="-122"/>
                <a:cs typeface="Calibri" pitchFamily="34" charset="-120"/>
              </a:rPr>
              <a:t>Information Security — Assignment 2</a:t>
            </a:r>
            <a:endParaRPr lang="en-US" sz="1300" dirty="0"/>
          </a:p>
        </p:txBody>
      </p:sp>
      <p:sp>
        <p:nvSpPr>
          <p:cNvPr id="13" name="Shape 11"/>
          <p:cNvSpPr/>
          <p:nvPr/>
        </p:nvSpPr>
        <p:spPr>
          <a:xfrm>
            <a:off x="8138160" y="274320"/>
            <a:ext cx="731520" cy="457200"/>
          </a:xfrm>
          <a:prstGeom prst="rect">
            <a:avLst/>
          </a:prstGeom>
          <a:solidFill>
            <a:srgbClr val="00D4FF">
              <a:alpha val="12000"/>
            </a:srgbClr>
          </a:solidFill>
          <a:ln w="6350">
            <a:solidFill>
              <a:srgbClr val="00D4FF">
                <a:alpha val="40000"/>
              </a:srgbClr>
            </a:solidFill>
            <a:prstDash val="solid"/>
          </a:ln>
        </p:spPr>
      </p:sp>
      <p:sp>
        <p:nvSpPr>
          <p:cNvPr id="14" name="Text 12"/>
          <p:cNvSpPr/>
          <p:nvPr/>
        </p:nvSpPr>
        <p:spPr>
          <a:xfrm>
            <a:off x="8138160" y="274320"/>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53</a:t>
            </a:r>
            <a:endParaRPr lang="en-US" sz="900" dirty="0"/>
          </a:p>
        </p:txBody>
      </p:sp>
      <p:sp>
        <p:nvSpPr>
          <p:cNvPr id="15" name="Shape 13"/>
          <p:cNvSpPr/>
          <p:nvPr/>
        </p:nvSpPr>
        <p:spPr>
          <a:xfrm>
            <a:off x="8138160" y="850392"/>
            <a:ext cx="731520" cy="457200"/>
          </a:xfrm>
          <a:prstGeom prst="rect">
            <a:avLst/>
          </a:prstGeom>
          <a:solidFill>
            <a:srgbClr val="00D4FF">
              <a:alpha val="12000"/>
            </a:srgbClr>
          </a:solidFill>
          <a:ln w="6350">
            <a:solidFill>
              <a:srgbClr val="00D4FF">
                <a:alpha val="40000"/>
              </a:srgbClr>
            </a:solidFill>
            <a:prstDash val="solid"/>
          </a:ln>
        </p:spPr>
      </p:sp>
      <p:sp>
        <p:nvSpPr>
          <p:cNvPr id="16" name="Text 14"/>
          <p:cNvSpPr/>
          <p:nvPr/>
        </p:nvSpPr>
        <p:spPr>
          <a:xfrm>
            <a:off x="8138160" y="850392"/>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UDP</a:t>
            </a:r>
            <a:endParaRPr lang="en-US" sz="900" dirty="0"/>
          </a:p>
        </p:txBody>
      </p:sp>
      <p:sp>
        <p:nvSpPr>
          <p:cNvPr id="17" name="Shape 15"/>
          <p:cNvSpPr/>
          <p:nvPr/>
        </p:nvSpPr>
        <p:spPr>
          <a:xfrm>
            <a:off x="8138160" y="1426464"/>
            <a:ext cx="731520" cy="457200"/>
          </a:xfrm>
          <a:prstGeom prst="rect">
            <a:avLst/>
          </a:prstGeom>
          <a:solidFill>
            <a:srgbClr val="00D4FF">
              <a:alpha val="12000"/>
            </a:srgbClr>
          </a:solidFill>
          <a:ln w="6350">
            <a:solidFill>
              <a:srgbClr val="00D4FF">
                <a:alpha val="40000"/>
              </a:srgbClr>
            </a:solidFill>
            <a:prstDash val="solid"/>
          </a:ln>
        </p:spPr>
      </p:sp>
      <p:sp>
        <p:nvSpPr>
          <p:cNvPr id="18" name="Text 16"/>
          <p:cNvSpPr/>
          <p:nvPr/>
        </p:nvSpPr>
        <p:spPr>
          <a:xfrm>
            <a:off x="8138160" y="1426464"/>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TTL</a:t>
            </a:r>
            <a:endParaRPr lang="en-US" sz="900" dirty="0"/>
          </a:p>
        </p:txBody>
      </p:sp>
      <p:sp>
        <p:nvSpPr>
          <p:cNvPr id="19" name="Shape 17"/>
          <p:cNvSpPr/>
          <p:nvPr/>
        </p:nvSpPr>
        <p:spPr>
          <a:xfrm>
            <a:off x="8138160" y="2002536"/>
            <a:ext cx="731520" cy="457200"/>
          </a:xfrm>
          <a:prstGeom prst="rect">
            <a:avLst/>
          </a:prstGeom>
          <a:solidFill>
            <a:srgbClr val="00D4FF">
              <a:alpha val="12000"/>
            </a:srgbClr>
          </a:solidFill>
          <a:ln w="6350">
            <a:solidFill>
              <a:srgbClr val="00D4FF">
                <a:alpha val="40000"/>
              </a:srgbClr>
            </a:solidFill>
            <a:prstDash val="solid"/>
          </a:ln>
        </p:spPr>
      </p:sp>
      <p:sp>
        <p:nvSpPr>
          <p:cNvPr id="20" name="Text 18"/>
          <p:cNvSpPr/>
          <p:nvPr/>
        </p:nvSpPr>
        <p:spPr>
          <a:xfrm>
            <a:off x="8138160" y="2002536"/>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RR</a:t>
            </a:r>
            <a:endParaRPr lang="en-US" sz="900" dirty="0"/>
          </a:p>
        </p:txBody>
      </p:sp>
      <p:sp>
        <p:nvSpPr>
          <p:cNvPr id="21" name="Shape 19"/>
          <p:cNvSpPr/>
          <p:nvPr/>
        </p:nvSpPr>
        <p:spPr>
          <a:xfrm>
            <a:off x="8138160" y="2578608"/>
            <a:ext cx="731520" cy="457200"/>
          </a:xfrm>
          <a:prstGeom prst="rect">
            <a:avLst/>
          </a:prstGeom>
          <a:solidFill>
            <a:srgbClr val="00D4FF">
              <a:alpha val="12000"/>
            </a:srgbClr>
          </a:solidFill>
          <a:ln w="6350">
            <a:solidFill>
              <a:srgbClr val="00D4FF">
                <a:alpha val="40000"/>
              </a:srgbClr>
            </a:solidFill>
            <a:prstDash val="solid"/>
          </a:ln>
        </p:spPr>
      </p:sp>
      <p:sp>
        <p:nvSpPr>
          <p:cNvPr id="22" name="Text 20"/>
          <p:cNvSpPr/>
          <p:nvPr/>
        </p:nvSpPr>
        <p:spPr>
          <a:xfrm>
            <a:off x="8138160" y="2578608"/>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NS</a:t>
            </a:r>
            <a:endParaRPr lang="en-US" sz="900" dirty="0"/>
          </a:p>
        </p:txBody>
      </p:sp>
      <p:sp>
        <p:nvSpPr>
          <p:cNvPr id="23" name="Shape 21"/>
          <p:cNvSpPr/>
          <p:nvPr/>
        </p:nvSpPr>
        <p:spPr>
          <a:xfrm>
            <a:off x="8138160" y="3154680"/>
            <a:ext cx="731520" cy="457200"/>
          </a:xfrm>
          <a:prstGeom prst="rect">
            <a:avLst/>
          </a:prstGeom>
          <a:solidFill>
            <a:srgbClr val="00D4FF">
              <a:alpha val="12000"/>
            </a:srgbClr>
          </a:solidFill>
          <a:ln w="6350">
            <a:solidFill>
              <a:srgbClr val="00D4FF">
                <a:alpha val="40000"/>
              </a:srgbClr>
            </a:solidFill>
            <a:prstDash val="solid"/>
          </a:ln>
        </p:spPr>
      </p:sp>
      <p:sp>
        <p:nvSpPr>
          <p:cNvPr id="24" name="Text 22"/>
          <p:cNvSpPr/>
          <p:nvPr/>
        </p:nvSpPr>
        <p:spPr>
          <a:xfrm>
            <a:off x="8138160" y="3154680"/>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TID</a:t>
            </a:r>
            <a:endParaRPr lang="en-US" sz="900" dirty="0"/>
          </a:p>
        </p:txBody>
      </p:sp>
      <p:sp>
        <p:nvSpPr>
          <p:cNvPr id="25" name="Shape 23"/>
          <p:cNvSpPr/>
          <p:nvPr/>
        </p:nvSpPr>
        <p:spPr>
          <a:xfrm>
            <a:off x="8138160" y="3730752"/>
            <a:ext cx="731520" cy="457200"/>
          </a:xfrm>
          <a:prstGeom prst="rect">
            <a:avLst/>
          </a:prstGeom>
          <a:solidFill>
            <a:srgbClr val="00D4FF">
              <a:alpha val="12000"/>
            </a:srgbClr>
          </a:solidFill>
          <a:ln w="6350">
            <a:solidFill>
              <a:srgbClr val="00D4FF">
                <a:alpha val="40000"/>
              </a:srgbClr>
            </a:solidFill>
            <a:prstDash val="solid"/>
          </a:ln>
        </p:spPr>
      </p:sp>
      <p:sp>
        <p:nvSpPr>
          <p:cNvPr id="26" name="Text 24"/>
          <p:cNvSpPr/>
          <p:nvPr/>
        </p:nvSpPr>
        <p:spPr>
          <a:xfrm>
            <a:off x="8138160" y="3730752"/>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IP</a:t>
            </a:r>
            <a:endParaRPr lang="en-US" sz="900" dirty="0"/>
          </a:p>
        </p:txBody>
      </p:sp>
      <p:sp>
        <p:nvSpPr>
          <p:cNvPr id="27" name="Shape 25"/>
          <p:cNvSpPr/>
          <p:nvPr/>
        </p:nvSpPr>
        <p:spPr>
          <a:xfrm>
            <a:off x="8138160" y="4306824"/>
            <a:ext cx="731520" cy="457200"/>
          </a:xfrm>
          <a:prstGeom prst="rect">
            <a:avLst/>
          </a:prstGeom>
          <a:solidFill>
            <a:srgbClr val="00D4FF">
              <a:alpha val="12000"/>
            </a:srgbClr>
          </a:solidFill>
          <a:ln w="6350">
            <a:solidFill>
              <a:srgbClr val="00D4FF">
                <a:alpha val="40000"/>
              </a:srgbClr>
            </a:solidFill>
            <a:prstDash val="solid"/>
          </a:ln>
        </p:spPr>
      </p:sp>
      <p:sp>
        <p:nvSpPr>
          <p:cNvPr id="28" name="Text 26"/>
          <p:cNvSpPr/>
          <p:nvPr/>
        </p:nvSpPr>
        <p:spPr>
          <a:xfrm>
            <a:off x="8138160" y="4306824"/>
            <a:ext cx="731520" cy="457200"/>
          </a:xfrm>
          <a:prstGeom prst="rect">
            <a:avLst/>
          </a:prstGeom>
          <a:noFill/>
          <a:ln/>
        </p:spPr>
        <p:txBody>
          <a:bodyPr wrap="square" rtlCol="0" anchor="ctr"/>
          <a:lstStyle/>
          <a:p>
            <a:pPr algn="ctr" indent="0" marL="0">
              <a:buNone/>
            </a:pPr>
            <a:r>
              <a:rPr lang="en-US" sz="900" dirty="0">
                <a:solidFill>
                  <a:srgbClr val="00D4FF"/>
                </a:solidFill>
                <a:latin typeface="Consolas" pitchFamily="34" charset="0"/>
                <a:ea typeface="Consolas" pitchFamily="34" charset="-122"/>
                <a:cs typeface="Consolas" pitchFamily="34" charset="-120"/>
              </a:rPr>
              <a:t>DNS</a:t>
            </a:r>
            <a:endParaRPr lang="en-US" sz="900" dirty="0"/>
          </a:p>
        </p:txBody>
      </p:sp>
      <p:sp>
        <p:nvSpPr>
          <p:cNvPr id="29" name="Shape 27"/>
          <p:cNvSpPr/>
          <p:nvPr/>
        </p:nvSpPr>
        <p:spPr>
          <a:xfrm>
            <a:off x="685800" y="3794760"/>
            <a:ext cx="1280160" cy="292608"/>
          </a:xfrm>
          <a:prstGeom prst="rect">
            <a:avLst/>
          </a:prstGeom>
          <a:solidFill>
            <a:srgbClr val="FF4444">
              <a:alpha val="80000"/>
            </a:srgbClr>
          </a:solidFill>
          <a:ln w="12700">
            <a:solidFill>
              <a:srgbClr val="FF4444"/>
            </a:solidFill>
            <a:prstDash val="solid"/>
          </a:ln>
        </p:spPr>
      </p:sp>
      <p:sp>
        <p:nvSpPr>
          <p:cNvPr id="30" name="Text 28"/>
          <p:cNvSpPr/>
          <p:nvPr/>
        </p:nvSpPr>
        <p:spPr>
          <a:xfrm>
            <a:off x="685800" y="3794760"/>
            <a:ext cx="1280160" cy="292608"/>
          </a:xfrm>
          <a:prstGeom prst="rect">
            <a:avLst/>
          </a:prstGeom>
          <a:noFill/>
          <a:ln/>
        </p:spPr>
        <p:txBody>
          <a:bodyPr wrap="square"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SECURITY RESEARCH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02</a:t>
            </a:r>
            <a:endParaRPr lang="en-US" sz="1100" dirty="0"/>
          </a:p>
        </p:txBody>
      </p:sp>
      <p:sp>
        <p:nvSpPr>
          <p:cNvPr id="5" name="Text 3"/>
          <p:cNvSpPr/>
          <p:nvPr/>
        </p:nvSpPr>
        <p:spPr>
          <a:xfrm>
            <a:off x="822960" y="73152"/>
            <a:ext cx="7315200" cy="530352"/>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 to DNS Cache Poisoning</a:t>
            </a:r>
            <a:endParaRPr lang="en-US" sz="2200" dirty="0"/>
          </a:p>
        </p:txBody>
      </p:sp>
      <p:sp>
        <p:nvSpPr>
          <p:cNvPr id="6" name="Shape 4"/>
          <p:cNvSpPr/>
          <p:nvPr/>
        </p:nvSpPr>
        <p:spPr>
          <a:xfrm>
            <a:off x="365760" y="914400"/>
            <a:ext cx="3931920" cy="1005840"/>
          </a:xfrm>
          <a:prstGeom prst="rect">
            <a:avLst/>
          </a:prstGeom>
          <a:solidFill>
            <a:srgbClr val="1A2235"/>
          </a:solidFill>
          <a:ln w="12700">
            <a:solidFill>
              <a:srgbClr val="1E3A5F"/>
            </a:solidFill>
            <a:prstDash val="solid"/>
          </a:ln>
        </p:spPr>
      </p:sp>
      <p:sp>
        <p:nvSpPr>
          <p:cNvPr id="7" name="Shape 5"/>
          <p:cNvSpPr/>
          <p:nvPr/>
        </p:nvSpPr>
        <p:spPr>
          <a:xfrm>
            <a:off x="365760" y="914400"/>
            <a:ext cx="64008" cy="1005840"/>
          </a:xfrm>
          <a:prstGeom prst="rect">
            <a:avLst/>
          </a:prstGeom>
          <a:solidFill>
            <a:srgbClr val="00D4FF"/>
          </a:solidFill>
          <a:ln w="12700">
            <a:solidFill>
              <a:srgbClr val="00D4FF"/>
            </a:solidFill>
            <a:prstDash val="solid"/>
          </a:ln>
        </p:spPr>
      </p:sp>
      <p:sp>
        <p:nvSpPr>
          <p:cNvPr id="8" name="Text 6"/>
          <p:cNvSpPr/>
          <p:nvPr/>
        </p:nvSpPr>
        <p:spPr>
          <a:xfrm>
            <a:off x="548640" y="960120"/>
            <a:ext cx="3657600" cy="27432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What is it?</a:t>
            </a:r>
            <a:endParaRPr lang="en-US" sz="1300" dirty="0"/>
          </a:p>
        </p:txBody>
      </p:sp>
      <p:sp>
        <p:nvSpPr>
          <p:cNvPr id="9" name="Text 7"/>
          <p:cNvSpPr/>
          <p:nvPr/>
        </p:nvSpPr>
        <p:spPr>
          <a:xfrm>
            <a:off x="548640" y="1234440"/>
            <a:ext cx="3566160" cy="59436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Tricking a DNS resolver into caching a fake IP address for a legitimate domain — redirecting all subsequent traffic to an attacker's server.</a:t>
            </a:r>
            <a:endParaRPr lang="en-US" sz="1100" dirty="0"/>
          </a:p>
        </p:txBody>
      </p:sp>
      <p:sp>
        <p:nvSpPr>
          <p:cNvPr id="10" name="Shape 8"/>
          <p:cNvSpPr/>
          <p:nvPr/>
        </p:nvSpPr>
        <p:spPr>
          <a:xfrm>
            <a:off x="365760" y="2057400"/>
            <a:ext cx="3931920" cy="1005840"/>
          </a:xfrm>
          <a:prstGeom prst="rect">
            <a:avLst/>
          </a:prstGeom>
          <a:solidFill>
            <a:srgbClr val="1A2235"/>
          </a:solidFill>
          <a:ln w="12700">
            <a:solidFill>
              <a:srgbClr val="1E3A5F"/>
            </a:solidFill>
            <a:prstDash val="solid"/>
          </a:ln>
        </p:spPr>
      </p:sp>
      <p:sp>
        <p:nvSpPr>
          <p:cNvPr id="11" name="Shape 9"/>
          <p:cNvSpPr/>
          <p:nvPr/>
        </p:nvSpPr>
        <p:spPr>
          <a:xfrm>
            <a:off x="365760" y="2057400"/>
            <a:ext cx="64008" cy="1005840"/>
          </a:xfrm>
          <a:prstGeom prst="rect">
            <a:avLst/>
          </a:prstGeom>
          <a:solidFill>
            <a:srgbClr val="FF4444"/>
          </a:solidFill>
          <a:ln w="12700">
            <a:solidFill>
              <a:srgbClr val="FF4444"/>
            </a:solidFill>
            <a:prstDash val="solid"/>
          </a:ln>
        </p:spPr>
      </p:sp>
      <p:sp>
        <p:nvSpPr>
          <p:cNvPr id="12" name="Text 10"/>
          <p:cNvSpPr/>
          <p:nvPr/>
        </p:nvSpPr>
        <p:spPr>
          <a:xfrm>
            <a:off x="548640" y="2103120"/>
            <a:ext cx="3657600" cy="274320"/>
          </a:xfrm>
          <a:prstGeom prst="rect">
            <a:avLst/>
          </a:prstGeom>
          <a:noFill/>
          <a:ln/>
        </p:spPr>
        <p:txBody>
          <a:bodyPr wrap="square" rtlCol="0" anchor="ctr"/>
          <a:lstStyle/>
          <a:p>
            <a:pPr indent="0" marL="0">
              <a:buNone/>
            </a:pPr>
            <a:r>
              <a:rPr lang="en-US" sz="1300" b="1" dirty="0">
                <a:solidFill>
                  <a:srgbClr val="FF4444"/>
                </a:solidFill>
                <a:latin typeface="Calibri" pitchFamily="34" charset="0"/>
                <a:ea typeface="Calibri" pitchFamily="34" charset="-122"/>
                <a:cs typeface="Calibri" pitchFamily="34" charset="-120"/>
              </a:rPr>
              <a:t>Impact</a:t>
            </a:r>
            <a:endParaRPr lang="en-US" sz="1300" dirty="0"/>
          </a:p>
        </p:txBody>
      </p:sp>
      <p:sp>
        <p:nvSpPr>
          <p:cNvPr id="13" name="Text 11"/>
          <p:cNvSpPr/>
          <p:nvPr/>
        </p:nvSpPr>
        <p:spPr>
          <a:xfrm>
            <a:off x="548640" y="2377440"/>
            <a:ext cx="3566160" cy="320040"/>
          </a:xfrm>
          <a:prstGeom prst="rect">
            <a:avLst/>
          </a:prstGeom>
          <a:noFill/>
          <a:ln/>
        </p:spPr>
        <p:txBody>
          <a:bodyPr wrap="square" rtlCol="0" anchor="ctr"/>
          <a:lstStyle/>
          <a:p>
            <a:pPr indent="0" marL="0">
              <a:buNone/>
            </a:pPr>
            <a:r>
              <a:rPr lang="en-US" sz="1100" b="1" dirty="0">
                <a:solidFill>
                  <a:srgbClr val="FF4444"/>
                </a:solidFill>
                <a:latin typeface="Calibri" pitchFamily="34" charset="0"/>
                <a:ea typeface="Calibri" pitchFamily="34" charset="-122"/>
                <a:cs typeface="Calibri" pitchFamily="34" charset="-120"/>
              </a:rPr>
              <a:t>Phishing </a:t>
            </a:r>
            <a:pPr indent="0" marL="0">
              <a:buNone/>
            </a:pPr>
            <a:r>
              <a:rPr lang="en-US" sz="1100" dirty="0">
                <a:solidFill>
                  <a:srgbClr val="94A3B8"/>
                </a:solidFill>
                <a:latin typeface="Calibri" pitchFamily="34" charset="0"/>
                <a:ea typeface="Calibri" pitchFamily="34" charset="-122"/>
                <a:cs typeface="Calibri" pitchFamily="34" charset="-120"/>
              </a:rPr>
              <a:t>• </a:t>
            </a:r>
            <a:pPr indent="0" marL="0">
              <a:buNone/>
            </a:pPr>
            <a:r>
              <a:rPr lang="en-US" sz="1100" b="1" dirty="0">
                <a:solidFill>
                  <a:srgbClr val="FF4444"/>
                </a:solidFill>
                <a:latin typeface="Calibri" pitchFamily="34" charset="0"/>
                <a:ea typeface="Calibri" pitchFamily="34" charset="-122"/>
                <a:cs typeface="Calibri" pitchFamily="34" charset="-120"/>
              </a:rPr>
              <a:t>Malware Distribution </a:t>
            </a:r>
            <a:pPr indent="0" marL="0">
              <a:buNone/>
            </a:pPr>
            <a:r>
              <a:rPr lang="en-US" sz="1100" dirty="0">
                <a:solidFill>
                  <a:srgbClr val="94A3B8"/>
                </a:solidFill>
                <a:latin typeface="Calibri" pitchFamily="34" charset="0"/>
                <a:ea typeface="Calibri" pitchFamily="34" charset="-122"/>
                <a:cs typeface="Calibri" pitchFamily="34" charset="-120"/>
              </a:rPr>
              <a:t>• </a:t>
            </a:r>
            <a:pPr indent="0" marL="0">
              <a:buNone/>
            </a:pPr>
            <a:r>
              <a:rPr lang="en-US" sz="1100" b="1" dirty="0">
                <a:solidFill>
                  <a:srgbClr val="FF4444"/>
                </a:solidFill>
                <a:latin typeface="Calibri" pitchFamily="34" charset="0"/>
                <a:ea typeface="Calibri" pitchFamily="34" charset="-122"/>
                <a:cs typeface="Calibri" pitchFamily="34" charset="-120"/>
              </a:rPr>
              <a:t>Denial of Service</a:t>
            </a:r>
            <a:endParaRPr lang="en-US" sz="1100" dirty="0"/>
          </a:p>
        </p:txBody>
      </p:sp>
      <p:sp>
        <p:nvSpPr>
          <p:cNvPr id="14" name="Text 12"/>
          <p:cNvSpPr/>
          <p:nvPr/>
        </p:nvSpPr>
        <p:spPr>
          <a:xfrm>
            <a:off x="548640" y="2697480"/>
            <a:ext cx="3566160" cy="320040"/>
          </a:xfrm>
          <a:prstGeom prst="rect">
            <a:avLst/>
          </a:prstGeom>
          <a:noFill/>
          <a:ln/>
        </p:spPr>
        <p:txBody>
          <a:bodyPr wrap="square"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Any user querying the poisoned resolver gets silently redirected — at scale.</a:t>
            </a:r>
            <a:endParaRPr lang="en-US" sz="1000" dirty="0"/>
          </a:p>
        </p:txBody>
      </p:sp>
      <p:sp>
        <p:nvSpPr>
          <p:cNvPr id="15" name="Shape 13"/>
          <p:cNvSpPr/>
          <p:nvPr/>
        </p:nvSpPr>
        <p:spPr>
          <a:xfrm>
            <a:off x="365760" y="3200400"/>
            <a:ext cx="3931920" cy="1188720"/>
          </a:xfrm>
          <a:prstGeom prst="rect">
            <a:avLst/>
          </a:prstGeom>
          <a:solidFill>
            <a:srgbClr val="1A2235"/>
          </a:solidFill>
          <a:ln w="12700">
            <a:solidFill>
              <a:srgbClr val="1E3A5F"/>
            </a:solidFill>
            <a:prstDash val="solid"/>
          </a:ln>
        </p:spPr>
      </p:sp>
      <p:sp>
        <p:nvSpPr>
          <p:cNvPr id="16" name="Shape 14"/>
          <p:cNvSpPr/>
          <p:nvPr/>
        </p:nvSpPr>
        <p:spPr>
          <a:xfrm>
            <a:off x="365760" y="3200400"/>
            <a:ext cx="64008" cy="1188720"/>
          </a:xfrm>
          <a:prstGeom prst="rect">
            <a:avLst/>
          </a:prstGeom>
          <a:solidFill>
            <a:srgbClr val="FBBF24"/>
          </a:solidFill>
          <a:ln w="12700">
            <a:solidFill>
              <a:srgbClr val="FBBF24"/>
            </a:solidFill>
            <a:prstDash val="solid"/>
          </a:ln>
        </p:spPr>
      </p:sp>
      <p:sp>
        <p:nvSpPr>
          <p:cNvPr id="17" name="Text 15"/>
          <p:cNvSpPr/>
          <p:nvPr/>
        </p:nvSpPr>
        <p:spPr>
          <a:xfrm>
            <a:off x="548640" y="3246120"/>
            <a:ext cx="3657600" cy="292608"/>
          </a:xfrm>
          <a:prstGeom prst="rect">
            <a:avLst/>
          </a:prstGeom>
          <a:noFill/>
          <a:ln/>
        </p:spPr>
        <p:txBody>
          <a:bodyPr wrap="square"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Root Cause — The Kaminsky Bug</a:t>
            </a:r>
            <a:endParaRPr lang="en-US" sz="1200" dirty="0"/>
          </a:p>
        </p:txBody>
      </p:sp>
      <p:sp>
        <p:nvSpPr>
          <p:cNvPr id="18" name="Text 16"/>
          <p:cNvSpPr/>
          <p:nvPr/>
        </p:nvSpPr>
        <p:spPr>
          <a:xfrm>
            <a:off x="548640" y="3538728"/>
            <a:ext cx="3566160" cy="77724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Early DNS implementations lacked sufficient randomness in query parameters (Transaction IDs &amp; source ports), making responses predictable and spoofable via brute-force.</a:t>
            </a:r>
            <a:endParaRPr lang="en-US" sz="1100" dirty="0"/>
          </a:p>
        </p:txBody>
      </p:sp>
      <p:sp>
        <p:nvSpPr>
          <p:cNvPr id="19" name="Text 17"/>
          <p:cNvSpPr/>
          <p:nvPr/>
        </p:nvSpPr>
        <p:spPr>
          <a:xfrm>
            <a:off x="4572000" y="896112"/>
            <a:ext cx="4114800" cy="32004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How the Attack Works</a:t>
            </a:r>
            <a:endParaRPr lang="en-US" sz="1300" dirty="0"/>
          </a:p>
        </p:txBody>
      </p:sp>
      <p:sp>
        <p:nvSpPr>
          <p:cNvPr id="20" name="Shape 18"/>
          <p:cNvSpPr/>
          <p:nvPr/>
        </p:nvSpPr>
        <p:spPr>
          <a:xfrm>
            <a:off x="4572000" y="1325880"/>
            <a:ext cx="4114800" cy="530352"/>
          </a:xfrm>
          <a:prstGeom prst="rect">
            <a:avLst/>
          </a:prstGeom>
          <a:solidFill>
            <a:srgbClr val="1A2235"/>
          </a:solidFill>
          <a:ln w="12700">
            <a:solidFill>
              <a:srgbClr val="00D4FF"/>
            </a:solidFill>
            <a:prstDash val="solid"/>
          </a:ln>
        </p:spPr>
      </p:sp>
      <p:sp>
        <p:nvSpPr>
          <p:cNvPr id="21" name="Shape 19"/>
          <p:cNvSpPr/>
          <p:nvPr/>
        </p:nvSpPr>
        <p:spPr>
          <a:xfrm>
            <a:off x="4572000" y="1325880"/>
            <a:ext cx="64008" cy="530352"/>
          </a:xfrm>
          <a:prstGeom prst="rect">
            <a:avLst/>
          </a:prstGeom>
          <a:solidFill>
            <a:srgbClr val="00D4FF"/>
          </a:solidFill>
          <a:ln w="12700">
            <a:solidFill>
              <a:srgbClr val="00D4FF"/>
            </a:solidFill>
            <a:prstDash val="solid"/>
          </a:ln>
        </p:spPr>
      </p:sp>
      <p:sp>
        <p:nvSpPr>
          <p:cNvPr id="22" name="Text 20"/>
          <p:cNvSpPr/>
          <p:nvPr/>
        </p:nvSpPr>
        <p:spPr>
          <a:xfrm>
            <a:off x="4754880" y="1362456"/>
            <a:ext cx="2286000" cy="228600"/>
          </a:xfrm>
          <a:prstGeom prst="rect">
            <a:avLst/>
          </a:prstGeom>
          <a:noFill/>
          <a:ln/>
        </p:spPr>
        <p:txBody>
          <a:bodyPr wrap="square"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1  User</a:t>
            </a:r>
            <a:endParaRPr lang="en-US" sz="1200" dirty="0"/>
          </a:p>
        </p:txBody>
      </p:sp>
      <p:sp>
        <p:nvSpPr>
          <p:cNvPr id="23" name="Text 21"/>
          <p:cNvSpPr/>
          <p:nvPr/>
        </p:nvSpPr>
        <p:spPr>
          <a:xfrm>
            <a:off x="4754880" y="1591056"/>
            <a:ext cx="356616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requests example.com</a:t>
            </a:r>
            <a:endParaRPr lang="en-US" sz="1000" dirty="0"/>
          </a:p>
        </p:txBody>
      </p:sp>
      <p:sp>
        <p:nvSpPr>
          <p:cNvPr id="24" name="Shape 22"/>
          <p:cNvSpPr/>
          <p:nvPr/>
        </p:nvSpPr>
        <p:spPr>
          <a:xfrm>
            <a:off x="6537960" y="1828800"/>
            <a:ext cx="18288" cy="256032"/>
          </a:xfrm>
          <a:prstGeom prst="rect">
            <a:avLst/>
          </a:prstGeom>
          <a:solidFill>
            <a:srgbClr val="1E3A5F"/>
          </a:solidFill>
          <a:ln w="12700">
            <a:solidFill>
              <a:srgbClr val="1E3A5F"/>
            </a:solidFill>
            <a:prstDash val="solid"/>
          </a:ln>
        </p:spPr>
      </p:sp>
      <p:sp>
        <p:nvSpPr>
          <p:cNvPr id="25" name="Shape 23"/>
          <p:cNvSpPr/>
          <p:nvPr/>
        </p:nvSpPr>
        <p:spPr>
          <a:xfrm>
            <a:off x="4572000" y="2057400"/>
            <a:ext cx="4114800" cy="530352"/>
          </a:xfrm>
          <a:prstGeom prst="rect">
            <a:avLst/>
          </a:prstGeom>
          <a:solidFill>
            <a:srgbClr val="1A2235"/>
          </a:solidFill>
          <a:ln w="12700">
            <a:solidFill>
              <a:srgbClr val="00D4FF"/>
            </a:solidFill>
            <a:prstDash val="solid"/>
          </a:ln>
        </p:spPr>
      </p:sp>
      <p:sp>
        <p:nvSpPr>
          <p:cNvPr id="26" name="Shape 24"/>
          <p:cNvSpPr/>
          <p:nvPr/>
        </p:nvSpPr>
        <p:spPr>
          <a:xfrm>
            <a:off x="4572000" y="2057400"/>
            <a:ext cx="64008" cy="530352"/>
          </a:xfrm>
          <a:prstGeom prst="rect">
            <a:avLst/>
          </a:prstGeom>
          <a:solidFill>
            <a:srgbClr val="00D4FF"/>
          </a:solidFill>
          <a:ln w="12700">
            <a:solidFill>
              <a:srgbClr val="00D4FF"/>
            </a:solidFill>
            <a:prstDash val="solid"/>
          </a:ln>
        </p:spPr>
      </p:sp>
      <p:sp>
        <p:nvSpPr>
          <p:cNvPr id="27" name="Text 25"/>
          <p:cNvSpPr/>
          <p:nvPr/>
        </p:nvSpPr>
        <p:spPr>
          <a:xfrm>
            <a:off x="4754880" y="2093976"/>
            <a:ext cx="2286000" cy="228600"/>
          </a:xfrm>
          <a:prstGeom prst="rect">
            <a:avLst/>
          </a:prstGeom>
          <a:noFill/>
          <a:ln/>
        </p:spPr>
        <p:txBody>
          <a:bodyPr wrap="square"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2  DNS Resolver</a:t>
            </a:r>
            <a:endParaRPr lang="en-US" sz="1200" dirty="0"/>
          </a:p>
        </p:txBody>
      </p:sp>
      <p:sp>
        <p:nvSpPr>
          <p:cNvPr id="28" name="Text 26"/>
          <p:cNvSpPr/>
          <p:nvPr/>
        </p:nvSpPr>
        <p:spPr>
          <a:xfrm>
            <a:off x="4754880" y="2322576"/>
            <a:ext cx="356616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asks upstream server</a:t>
            </a:r>
            <a:endParaRPr lang="en-US" sz="1000" dirty="0"/>
          </a:p>
        </p:txBody>
      </p:sp>
      <p:sp>
        <p:nvSpPr>
          <p:cNvPr id="29" name="Shape 27"/>
          <p:cNvSpPr/>
          <p:nvPr/>
        </p:nvSpPr>
        <p:spPr>
          <a:xfrm>
            <a:off x="6537960" y="2560320"/>
            <a:ext cx="18288" cy="256032"/>
          </a:xfrm>
          <a:prstGeom prst="rect">
            <a:avLst/>
          </a:prstGeom>
          <a:solidFill>
            <a:srgbClr val="1E3A5F"/>
          </a:solidFill>
          <a:ln w="12700">
            <a:solidFill>
              <a:srgbClr val="1E3A5F"/>
            </a:solidFill>
            <a:prstDash val="solid"/>
          </a:ln>
        </p:spPr>
      </p:sp>
      <p:sp>
        <p:nvSpPr>
          <p:cNvPr id="30" name="Shape 28"/>
          <p:cNvSpPr/>
          <p:nvPr/>
        </p:nvSpPr>
        <p:spPr>
          <a:xfrm>
            <a:off x="4572000" y="2788920"/>
            <a:ext cx="4114800" cy="530352"/>
          </a:xfrm>
          <a:prstGeom prst="rect">
            <a:avLst/>
          </a:prstGeom>
          <a:solidFill>
            <a:srgbClr val="1A2235"/>
          </a:solidFill>
          <a:ln w="12700">
            <a:solidFill>
              <a:srgbClr val="FF4444"/>
            </a:solidFill>
            <a:prstDash val="solid"/>
          </a:ln>
        </p:spPr>
      </p:sp>
      <p:sp>
        <p:nvSpPr>
          <p:cNvPr id="31" name="Shape 29"/>
          <p:cNvSpPr/>
          <p:nvPr/>
        </p:nvSpPr>
        <p:spPr>
          <a:xfrm>
            <a:off x="4572000" y="2788920"/>
            <a:ext cx="64008" cy="530352"/>
          </a:xfrm>
          <a:prstGeom prst="rect">
            <a:avLst/>
          </a:prstGeom>
          <a:solidFill>
            <a:srgbClr val="FF4444"/>
          </a:solidFill>
          <a:ln w="12700">
            <a:solidFill>
              <a:srgbClr val="FF4444"/>
            </a:solidFill>
            <a:prstDash val="solid"/>
          </a:ln>
        </p:spPr>
      </p:sp>
      <p:sp>
        <p:nvSpPr>
          <p:cNvPr id="32" name="Text 30"/>
          <p:cNvSpPr/>
          <p:nvPr/>
        </p:nvSpPr>
        <p:spPr>
          <a:xfrm>
            <a:off x="4754880" y="2825496"/>
            <a:ext cx="2286000" cy="228600"/>
          </a:xfrm>
          <a:prstGeom prst="rect">
            <a:avLst/>
          </a:prstGeom>
          <a:noFill/>
          <a:ln/>
        </p:spPr>
        <p:txBody>
          <a:bodyPr wrap="square" rtlCol="0" anchor="ctr"/>
          <a:lstStyle/>
          <a:p>
            <a:pPr indent="0" marL="0">
              <a:buNone/>
            </a:pPr>
            <a:r>
              <a:rPr lang="en-US" sz="1200" b="1" dirty="0">
                <a:solidFill>
                  <a:srgbClr val="FF4444"/>
                </a:solidFill>
                <a:latin typeface="Consolas" pitchFamily="34" charset="0"/>
                <a:ea typeface="Consolas" pitchFamily="34" charset="-122"/>
                <a:cs typeface="Consolas" pitchFamily="34" charset="-120"/>
              </a:rPr>
              <a:t>3  Attacker</a:t>
            </a:r>
            <a:endParaRPr lang="en-US" sz="1200" dirty="0"/>
          </a:p>
        </p:txBody>
      </p:sp>
      <p:sp>
        <p:nvSpPr>
          <p:cNvPr id="33" name="Text 31"/>
          <p:cNvSpPr/>
          <p:nvPr/>
        </p:nvSpPr>
        <p:spPr>
          <a:xfrm>
            <a:off x="4754880" y="3054096"/>
            <a:ext cx="356616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floods fake responses</a:t>
            </a:r>
            <a:endParaRPr lang="en-US" sz="1000" dirty="0"/>
          </a:p>
        </p:txBody>
      </p:sp>
      <p:sp>
        <p:nvSpPr>
          <p:cNvPr id="34" name="Shape 32"/>
          <p:cNvSpPr/>
          <p:nvPr/>
        </p:nvSpPr>
        <p:spPr>
          <a:xfrm>
            <a:off x="6537960" y="3291840"/>
            <a:ext cx="18288" cy="256032"/>
          </a:xfrm>
          <a:prstGeom prst="rect">
            <a:avLst/>
          </a:prstGeom>
          <a:solidFill>
            <a:srgbClr val="1E3A5F"/>
          </a:solidFill>
          <a:ln w="12700">
            <a:solidFill>
              <a:srgbClr val="1E3A5F"/>
            </a:solidFill>
            <a:prstDash val="solid"/>
          </a:ln>
        </p:spPr>
      </p:sp>
      <p:sp>
        <p:nvSpPr>
          <p:cNvPr id="35" name="Shape 33"/>
          <p:cNvSpPr/>
          <p:nvPr/>
        </p:nvSpPr>
        <p:spPr>
          <a:xfrm>
            <a:off x="4572000" y="3520440"/>
            <a:ext cx="4114800" cy="530352"/>
          </a:xfrm>
          <a:prstGeom prst="rect">
            <a:avLst/>
          </a:prstGeom>
          <a:solidFill>
            <a:srgbClr val="1A2235"/>
          </a:solidFill>
          <a:ln w="12700">
            <a:solidFill>
              <a:srgbClr val="FF4444"/>
            </a:solidFill>
            <a:prstDash val="solid"/>
          </a:ln>
        </p:spPr>
      </p:sp>
      <p:sp>
        <p:nvSpPr>
          <p:cNvPr id="36" name="Shape 34"/>
          <p:cNvSpPr/>
          <p:nvPr/>
        </p:nvSpPr>
        <p:spPr>
          <a:xfrm>
            <a:off x="4572000" y="3520440"/>
            <a:ext cx="64008" cy="530352"/>
          </a:xfrm>
          <a:prstGeom prst="rect">
            <a:avLst/>
          </a:prstGeom>
          <a:solidFill>
            <a:srgbClr val="FF4444"/>
          </a:solidFill>
          <a:ln w="12700">
            <a:solidFill>
              <a:srgbClr val="FF4444"/>
            </a:solidFill>
            <a:prstDash val="solid"/>
          </a:ln>
        </p:spPr>
      </p:sp>
      <p:sp>
        <p:nvSpPr>
          <p:cNvPr id="37" name="Text 35"/>
          <p:cNvSpPr/>
          <p:nvPr/>
        </p:nvSpPr>
        <p:spPr>
          <a:xfrm>
            <a:off x="4754880" y="3557016"/>
            <a:ext cx="2286000" cy="228600"/>
          </a:xfrm>
          <a:prstGeom prst="rect">
            <a:avLst/>
          </a:prstGeom>
          <a:noFill/>
          <a:ln/>
        </p:spPr>
        <p:txBody>
          <a:bodyPr wrap="square" rtlCol="0" anchor="ctr"/>
          <a:lstStyle/>
          <a:p>
            <a:pPr indent="0" marL="0">
              <a:buNone/>
            </a:pPr>
            <a:r>
              <a:rPr lang="en-US" sz="1200" b="1" dirty="0">
                <a:solidFill>
                  <a:srgbClr val="FF4444"/>
                </a:solidFill>
                <a:latin typeface="Consolas" pitchFamily="34" charset="0"/>
                <a:ea typeface="Consolas" pitchFamily="34" charset="-122"/>
                <a:cs typeface="Consolas" pitchFamily="34" charset="-120"/>
              </a:rPr>
              <a:t>4  Cache</a:t>
            </a:r>
            <a:endParaRPr lang="en-US" sz="1200" dirty="0"/>
          </a:p>
        </p:txBody>
      </p:sp>
      <p:sp>
        <p:nvSpPr>
          <p:cNvPr id="38" name="Text 36"/>
          <p:cNvSpPr/>
          <p:nvPr/>
        </p:nvSpPr>
        <p:spPr>
          <a:xfrm>
            <a:off x="4754880" y="3785616"/>
            <a:ext cx="356616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stores 6.6.6.6</a:t>
            </a:r>
            <a:endParaRPr lang="en-US" sz="1000" dirty="0"/>
          </a:p>
        </p:txBody>
      </p:sp>
      <p:sp>
        <p:nvSpPr>
          <p:cNvPr id="39" name="Shape 37"/>
          <p:cNvSpPr/>
          <p:nvPr/>
        </p:nvSpPr>
        <p:spPr>
          <a:xfrm>
            <a:off x="6537960" y="4023360"/>
            <a:ext cx="18288" cy="256032"/>
          </a:xfrm>
          <a:prstGeom prst="rect">
            <a:avLst/>
          </a:prstGeom>
          <a:solidFill>
            <a:srgbClr val="1E3A5F"/>
          </a:solidFill>
          <a:ln w="12700">
            <a:solidFill>
              <a:srgbClr val="1E3A5F"/>
            </a:solidFill>
            <a:prstDash val="solid"/>
          </a:ln>
        </p:spPr>
      </p:sp>
      <p:sp>
        <p:nvSpPr>
          <p:cNvPr id="40" name="Shape 38"/>
          <p:cNvSpPr/>
          <p:nvPr/>
        </p:nvSpPr>
        <p:spPr>
          <a:xfrm>
            <a:off x="4572000" y="4251960"/>
            <a:ext cx="4114800" cy="530352"/>
          </a:xfrm>
          <a:prstGeom prst="rect">
            <a:avLst/>
          </a:prstGeom>
          <a:solidFill>
            <a:srgbClr val="1A2235"/>
          </a:solidFill>
          <a:ln w="12700">
            <a:solidFill>
              <a:srgbClr val="FF4444"/>
            </a:solidFill>
            <a:prstDash val="solid"/>
          </a:ln>
        </p:spPr>
      </p:sp>
      <p:sp>
        <p:nvSpPr>
          <p:cNvPr id="41" name="Shape 39"/>
          <p:cNvSpPr/>
          <p:nvPr/>
        </p:nvSpPr>
        <p:spPr>
          <a:xfrm>
            <a:off x="4572000" y="4251960"/>
            <a:ext cx="64008" cy="530352"/>
          </a:xfrm>
          <a:prstGeom prst="rect">
            <a:avLst/>
          </a:prstGeom>
          <a:solidFill>
            <a:srgbClr val="FF4444"/>
          </a:solidFill>
          <a:ln w="12700">
            <a:solidFill>
              <a:srgbClr val="FF4444"/>
            </a:solidFill>
            <a:prstDash val="solid"/>
          </a:ln>
        </p:spPr>
      </p:sp>
      <p:sp>
        <p:nvSpPr>
          <p:cNvPr id="42" name="Text 40"/>
          <p:cNvSpPr/>
          <p:nvPr/>
        </p:nvSpPr>
        <p:spPr>
          <a:xfrm>
            <a:off x="4754880" y="4288536"/>
            <a:ext cx="2286000" cy="228600"/>
          </a:xfrm>
          <a:prstGeom prst="rect">
            <a:avLst/>
          </a:prstGeom>
          <a:noFill/>
          <a:ln/>
        </p:spPr>
        <p:txBody>
          <a:bodyPr wrap="square" rtlCol="0" anchor="ctr"/>
          <a:lstStyle/>
          <a:p>
            <a:pPr indent="0" marL="0">
              <a:buNone/>
            </a:pPr>
            <a:r>
              <a:rPr lang="en-US" sz="1200" b="1" dirty="0">
                <a:solidFill>
                  <a:srgbClr val="FF4444"/>
                </a:solidFill>
                <a:latin typeface="Consolas" pitchFamily="34" charset="0"/>
                <a:ea typeface="Consolas" pitchFamily="34" charset="-122"/>
                <a:cs typeface="Consolas" pitchFamily="34" charset="-120"/>
              </a:rPr>
              <a:t>5  User</a:t>
            </a:r>
            <a:endParaRPr lang="en-US" sz="1200" dirty="0"/>
          </a:p>
        </p:txBody>
      </p:sp>
      <p:sp>
        <p:nvSpPr>
          <p:cNvPr id="43" name="Text 41"/>
          <p:cNvSpPr/>
          <p:nvPr/>
        </p:nvSpPr>
        <p:spPr>
          <a:xfrm>
            <a:off x="4754880" y="4517136"/>
            <a:ext cx="356616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redirected to attacker!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03</a:t>
            </a:r>
            <a:endParaRPr lang="en-US" sz="1100" dirty="0"/>
          </a:p>
        </p:txBody>
      </p:sp>
      <p:sp>
        <p:nvSpPr>
          <p:cNvPr id="5" name="Text 3"/>
          <p:cNvSpPr/>
          <p:nvPr/>
        </p:nvSpPr>
        <p:spPr>
          <a:xfrm>
            <a:off x="822960" y="73152"/>
            <a:ext cx="7315200" cy="530352"/>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Lab Architecture &amp; Docker Environment</a:t>
            </a:r>
            <a:endParaRPr lang="en-US" sz="2200" dirty="0"/>
          </a:p>
        </p:txBody>
      </p:sp>
      <p:sp>
        <p:nvSpPr>
          <p:cNvPr id="6" name="Text 4"/>
          <p:cNvSpPr/>
          <p:nvPr/>
        </p:nvSpPr>
        <p:spPr>
          <a:xfrm>
            <a:off x="365760" y="804672"/>
            <a:ext cx="8229600" cy="27432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Docker-Based Network Simulation</a:t>
            </a:r>
            <a:endParaRPr lang="en-US" sz="1300" dirty="0"/>
          </a:p>
        </p:txBody>
      </p:sp>
      <p:sp>
        <p:nvSpPr>
          <p:cNvPr id="7" name="Shape 5"/>
          <p:cNvSpPr/>
          <p:nvPr/>
        </p:nvSpPr>
        <p:spPr>
          <a:xfrm>
            <a:off x="365760" y="1188720"/>
            <a:ext cx="3931920" cy="1005840"/>
          </a:xfrm>
          <a:prstGeom prst="rect">
            <a:avLst/>
          </a:prstGeom>
          <a:solidFill>
            <a:srgbClr val="1A2235"/>
          </a:solidFill>
          <a:ln w="12700">
            <a:solidFill>
              <a:srgbClr val="00D4FF"/>
            </a:solidFill>
            <a:prstDash val="solid"/>
          </a:ln>
        </p:spPr>
      </p:sp>
      <p:sp>
        <p:nvSpPr>
          <p:cNvPr id="8" name="Shape 6"/>
          <p:cNvSpPr/>
          <p:nvPr/>
        </p:nvSpPr>
        <p:spPr>
          <a:xfrm>
            <a:off x="365760" y="1188720"/>
            <a:ext cx="64008" cy="1005840"/>
          </a:xfrm>
          <a:prstGeom prst="rect">
            <a:avLst/>
          </a:prstGeom>
          <a:solidFill>
            <a:srgbClr val="00D4FF"/>
          </a:solidFill>
          <a:ln w="12700">
            <a:solidFill>
              <a:srgbClr val="00D4FF"/>
            </a:solidFill>
            <a:prstDash val="solid"/>
          </a:ln>
        </p:spPr>
      </p:sp>
      <p:sp>
        <p:nvSpPr>
          <p:cNvPr id="9" name="Shape 7"/>
          <p:cNvSpPr/>
          <p:nvPr/>
        </p:nvSpPr>
        <p:spPr>
          <a:xfrm>
            <a:off x="502920" y="1261872"/>
            <a:ext cx="1371600" cy="256032"/>
          </a:xfrm>
          <a:prstGeom prst="rect">
            <a:avLst/>
          </a:prstGeom>
          <a:solidFill>
            <a:srgbClr val="00D4FF">
              <a:alpha val="25000"/>
            </a:srgbClr>
          </a:solidFill>
          <a:ln w="12700">
            <a:solidFill>
              <a:srgbClr val="00D4FF"/>
            </a:solidFill>
            <a:prstDash val="solid"/>
          </a:ln>
        </p:spPr>
      </p:sp>
      <p:sp>
        <p:nvSpPr>
          <p:cNvPr id="10" name="Text 8"/>
          <p:cNvSpPr/>
          <p:nvPr/>
        </p:nvSpPr>
        <p:spPr>
          <a:xfrm>
            <a:off x="502920" y="1261872"/>
            <a:ext cx="1371600" cy="256032"/>
          </a:xfrm>
          <a:prstGeom prst="rect">
            <a:avLst/>
          </a:prstGeom>
          <a:noFill/>
          <a:ln/>
        </p:spPr>
        <p:txBody>
          <a:bodyPr wrap="square" rtlCol="0" anchor="ctr"/>
          <a:lstStyle/>
          <a:p>
            <a:pPr algn="ctr" indent="0" marL="0">
              <a:buNone/>
            </a:pPr>
            <a:r>
              <a:rPr lang="en-US" sz="900" b="1" dirty="0">
                <a:solidFill>
                  <a:srgbClr val="00D4FF"/>
                </a:solidFill>
                <a:latin typeface="Consolas" pitchFamily="34" charset="0"/>
                <a:ea typeface="Consolas" pitchFamily="34" charset="-122"/>
                <a:cs typeface="Consolas" pitchFamily="34" charset="-120"/>
              </a:rPr>
              <a:t>victim</a:t>
            </a:r>
            <a:endParaRPr lang="en-US" sz="900" dirty="0"/>
          </a:p>
        </p:txBody>
      </p:sp>
      <p:sp>
        <p:nvSpPr>
          <p:cNvPr id="11" name="Text 9"/>
          <p:cNvSpPr/>
          <p:nvPr/>
        </p:nvSpPr>
        <p:spPr>
          <a:xfrm>
            <a:off x="2011680" y="1261872"/>
            <a:ext cx="2103120" cy="256032"/>
          </a:xfrm>
          <a:prstGeom prst="rect">
            <a:avLst/>
          </a:prstGeom>
          <a:noFill/>
          <a:ln/>
        </p:spPr>
        <p:txBody>
          <a:bodyPr wrap="square"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10.0.0.3</a:t>
            </a:r>
            <a:endParaRPr lang="en-US" sz="1200" dirty="0"/>
          </a:p>
        </p:txBody>
      </p:sp>
      <p:sp>
        <p:nvSpPr>
          <p:cNvPr id="12" name="Text 10"/>
          <p:cNvSpPr/>
          <p:nvPr/>
        </p:nvSpPr>
        <p:spPr>
          <a:xfrm>
            <a:off x="548640" y="1600200"/>
            <a:ext cx="3474720" cy="5029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Innocent client making DNS queries</a:t>
            </a:r>
            <a:endParaRPr lang="en-US" sz="1100" dirty="0"/>
          </a:p>
        </p:txBody>
      </p:sp>
      <p:sp>
        <p:nvSpPr>
          <p:cNvPr id="13" name="Shape 11"/>
          <p:cNvSpPr/>
          <p:nvPr/>
        </p:nvSpPr>
        <p:spPr>
          <a:xfrm>
            <a:off x="4754880" y="1188720"/>
            <a:ext cx="3931920" cy="1005840"/>
          </a:xfrm>
          <a:prstGeom prst="rect">
            <a:avLst/>
          </a:prstGeom>
          <a:solidFill>
            <a:srgbClr val="1A2235"/>
          </a:solidFill>
          <a:ln w="12700">
            <a:solidFill>
              <a:srgbClr val="22C55E"/>
            </a:solidFill>
            <a:prstDash val="solid"/>
          </a:ln>
        </p:spPr>
      </p:sp>
      <p:sp>
        <p:nvSpPr>
          <p:cNvPr id="14" name="Shape 12"/>
          <p:cNvSpPr/>
          <p:nvPr/>
        </p:nvSpPr>
        <p:spPr>
          <a:xfrm>
            <a:off x="4754880" y="1188720"/>
            <a:ext cx="64008" cy="1005840"/>
          </a:xfrm>
          <a:prstGeom prst="rect">
            <a:avLst/>
          </a:prstGeom>
          <a:solidFill>
            <a:srgbClr val="22C55E"/>
          </a:solidFill>
          <a:ln w="12700">
            <a:solidFill>
              <a:srgbClr val="22C55E"/>
            </a:solidFill>
            <a:prstDash val="solid"/>
          </a:ln>
        </p:spPr>
      </p:sp>
      <p:sp>
        <p:nvSpPr>
          <p:cNvPr id="15" name="Shape 13"/>
          <p:cNvSpPr/>
          <p:nvPr/>
        </p:nvSpPr>
        <p:spPr>
          <a:xfrm>
            <a:off x="4892040" y="1261872"/>
            <a:ext cx="1371600" cy="256032"/>
          </a:xfrm>
          <a:prstGeom prst="rect">
            <a:avLst/>
          </a:prstGeom>
          <a:solidFill>
            <a:srgbClr val="22C55E">
              <a:alpha val="25000"/>
            </a:srgbClr>
          </a:solidFill>
          <a:ln w="12700">
            <a:solidFill>
              <a:srgbClr val="22C55E"/>
            </a:solidFill>
            <a:prstDash val="solid"/>
          </a:ln>
        </p:spPr>
      </p:sp>
      <p:sp>
        <p:nvSpPr>
          <p:cNvPr id="16" name="Text 14"/>
          <p:cNvSpPr/>
          <p:nvPr/>
        </p:nvSpPr>
        <p:spPr>
          <a:xfrm>
            <a:off x="4892040" y="1261872"/>
            <a:ext cx="1371600" cy="256032"/>
          </a:xfrm>
          <a:prstGeom prst="rect">
            <a:avLst/>
          </a:prstGeom>
          <a:noFill/>
          <a:ln/>
        </p:spPr>
        <p:txBody>
          <a:bodyPr wrap="square" rtlCol="0" anchor="ctr"/>
          <a:lstStyle/>
          <a:p>
            <a:pPr algn="ctr" indent="0" marL="0">
              <a:buNone/>
            </a:pPr>
            <a:r>
              <a:rPr lang="en-US" sz="900" b="1" dirty="0">
                <a:solidFill>
                  <a:srgbClr val="22C55E"/>
                </a:solidFill>
                <a:latin typeface="Consolas" pitchFamily="34" charset="0"/>
                <a:ea typeface="Consolas" pitchFamily="34" charset="-122"/>
                <a:cs typeface="Consolas" pitchFamily="34" charset="-120"/>
              </a:rPr>
              <a:t>upstream_dns</a:t>
            </a:r>
            <a:endParaRPr lang="en-US" sz="900" dirty="0"/>
          </a:p>
        </p:txBody>
      </p:sp>
      <p:sp>
        <p:nvSpPr>
          <p:cNvPr id="17" name="Text 15"/>
          <p:cNvSpPr/>
          <p:nvPr/>
        </p:nvSpPr>
        <p:spPr>
          <a:xfrm>
            <a:off x="6400800" y="1261872"/>
            <a:ext cx="2103120" cy="256032"/>
          </a:xfrm>
          <a:prstGeom prst="rect">
            <a:avLst/>
          </a:prstGeom>
          <a:noFill/>
          <a:ln/>
        </p:spPr>
        <p:txBody>
          <a:bodyPr wrap="square"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10.0.0.5</a:t>
            </a:r>
            <a:endParaRPr lang="en-US" sz="1200" dirty="0"/>
          </a:p>
        </p:txBody>
      </p:sp>
      <p:sp>
        <p:nvSpPr>
          <p:cNvPr id="18" name="Text 16"/>
          <p:cNvSpPr/>
          <p:nvPr/>
        </p:nvSpPr>
        <p:spPr>
          <a:xfrm>
            <a:off x="4937760" y="1600200"/>
            <a:ext cx="3474720" cy="5029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Authoritative name server (source of truth)</a:t>
            </a:r>
            <a:endParaRPr lang="en-US" sz="1100" dirty="0"/>
          </a:p>
        </p:txBody>
      </p:sp>
      <p:sp>
        <p:nvSpPr>
          <p:cNvPr id="19" name="Shape 17"/>
          <p:cNvSpPr/>
          <p:nvPr/>
        </p:nvSpPr>
        <p:spPr>
          <a:xfrm>
            <a:off x="365760" y="2377440"/>
            <a:ext cx="3931920" cy="1005840"/>
          </a:xfrm>
          <a:prstGeom prst="rect">
            <a:avLst/>
          </a:prstGeom>
          <a:solidFill>
            <a:srgbClr val="1A2235"/>
          </a:solidFill>
          <a:ln w="12700">
            <a:solidFill>
              <a:srgbClr val="FF4444"/>
            </a:solidFill>
            <a:prstDash val="solid"/>
          </a:ln>
        </p:spPr>
      </p:sp>
      <p:sp>
        <p:nvSpPr>
          <p:cNvPr id="20" name="Shape 18"/>
          <p:cNvSpPr/>
          <p:nvPr/>
        </p:nvSpPr>
        <p:spPr>
          <a:xfrm>
            <a:off x="365760" y="2377440"/>
            <a:ext cx="64008" cy="1005840"/>
          </a:xfrm>
          <a:prstGeom prst="rect">
            <a:avLst/>
          </a:prstGeom>
          <a:solidFill>
            <a:srgbClr val="FF4444"/>
          </a:solidFill>
          <a:ln w="12700">
            <a:solidFill>
              <a:srgbClr val="FF4444"/>
            </a:solidFill>
            <a:prstDash val="solid"/>
          </a:ln>
        </p:spPr>
      </p:sp>
      <p:sp>
        <p:nvSpPr>
          <p:cNvPr id="21" name="Shape 19"/>
          <p:cNvSpPr/>
          <p:nvPr/>
        </p:nvSpPr>
        <p:spPr>
          <a:xfrm>
            <a:off x="502920" y="2450592"/>
            <a:ext cx="1371600" cy="256032"/>
          </a:xfrm>
          <a:prstGeom prst="rect">
            <a:avLst/>
          </a:prstGeom>
          <a:solidFill>
            <a:srgbClr val="FF4444">
              <a:alpha val="25000"/>
            </a:srgbClr>
          </a:solidFill>
          <a:ln w="12700">
            <a:solidFill>
              <a:srgbClr val="FF4444"/>
            </a:solidFill>
            <a:prstDash val="solid"/>
          </a:ln>
        </p:spPr>
      </p:sp>
      <p:sp>
        <p:nvSpPr>
          <p:cNvPr id="22" name="Text 20"/>
          <p:cNvSpPr/>
          <p:nvPr/>
        </p:nvSpPr>
        <p:spPr>
          <a:xfrm>
            <a:off x="502920" y="2450592"/>
            <a:ext cx="1371600" cy="256032"/>
          </a:xfrm>
          <a:prstGeom prst="rect">
            <a:avLst/>
          </a:prstGeom>
          <a:noFill/>
          <a:ln/>
        </p:spPr>
        <p:txBody>
          <a:bodyPr wrap="square" rtlCol="0" anchor="ctr"/>
          <a:lstStyle/>
          <a:p>
            <a:pPr algn="ctr" indent="0" marL="0">
              <a:buNone/>
            </a:pPr>
            <a:r>
              <a:rPr lang="en-US" sz="900" b="1" dirty="0">
                <a:solidFill>
                  <a:srgbClr val="FF4444"/>
                </a:solidFill>
                <a:latin typeface="Consolas" pitchFamily="34" charset="0"/>
                <a:ea typeface="Consolas" pitchFamily="34" charset="-122"/>
                <a:cs typeface="Consolas" pitchFamily="34" charset="-120"/>
              </a:rPr>
              <a:t>attacker</a:t>
            </a:r>
            <a:endParaRPr lang="en-US" sz="900" dirty="0"/>
          </a:p>
        </p:txBody>
      </p:sp>
      <p:sp>
        <p:nvSpPr>
          <p:cNvPr id="23" name="Text 21"/>
          <p:cNvSpPr/>
          <p:nvPr/>
        </p:nvSpPr>
        <p:spPr>
          <a:xfrm>
            <a:off x="2011680" y="2450592"/>
            <a:ext cx="2103120" cy="256032"/>
          </a:xfrm>
          <a:prstGeom prst="rect">
            <a:avLst/>
          </a:prstGeom>
          <a:noFill/>
          <a:ln/>
        </p:spPr>
        <p:txBody>
          <a:bodyPr wrap="square"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10.0.0.4</a:t>
            </a:r>
            <a:endParaRPr lang="en-US" sz="1200" dirty="0"/>
          </a:p>
        </p:txBody>
      </p:sp>
      <p:sp>
        <p:nvSpPr>
          <p:cNvPr id="24" name="Text 22"/>
          <p:cNvSpPr/>
          <p:nvPr/>
        </p:nvSpPr>
        <p:spPr>
          <a:xfrm>
            <a:off x="548640" y="2788920"/>
            <a:ext cx="3474720" cy="5029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Malicious container — injects fake records</a:t>
            </a:r>
            <a:endParaRPr lang="en-US" sz="1100" dirty="0"/>
          </a:p>
        </p:txBody>
      </p:sp>
      <p:sp>
        <p:nvSpPr>
          <p:cNvPr id="25" name="Shape 23"/>
          <p:cNvSpPr/>
          <p:nvPr/>
        </p:nvSpPr>
        <p:spPr>
          <a:xfrm>
            <a:off x="4754880" y="2377440"/>
            <a:ext cx="3931920" cy="1005840"/>
          </a:xfrm>
          <a:prstGeom prst="rect">
            <a:avLst/>
          </a:prstGeom>
          <a:solidFill>
            <a:srgbClr val="1A2235"/>
          </a:solidFill>
          <a:ln w="12700">
            <a:solidFill>
              <a:srgbClr val="FF8800"/>
            </a:solidFill>
            <a:prstDash val="solid"/>
          </a:ln>
        </p:spPr>
      </p:sp>
      <p:sp>
        <p:nvSpPr>
          <p:cNvPr id="26" name="Shape 24"/>
          <p:cNvSpPr/>
          <p:nvPr/>
        </p:nvSpPr>
        <p:spPr>
          <a:xfrm>
            <a:off x="4754880" y="2377440"/>
            <a:ext cx="64008" cy="1005840"/>
          </a:xfrm>
          <a:prstGeom prst="rect">
            <a:avLst/>
          </a:prstGeom>
          <a:solidFill>
            <a:srgbClr val="FF8800"/>
          </a:solidFill>
          <a:ln w="12700">
            <a:solidFill>
              <a:srgbClr val="FF8800"/>
            </a:solidFill>
            <a:prstDash val="solid"/>
          </a:ln>
        </p:spPr>
      </p:sp>
      <p:sp>
        <p:nvSpPr>
          <p:cNvPr id="27" name="Shape 25"/>
          <p:cNvSpPr/>
          <p:nvPr/>
        </p:nvSpPr>
        <p:spPr>
          <a:xfrm>
            <a:off x="4892040" y="2450592"/>
            <a:ext cx="1371600" cy="256032"/>
          </a:xfrm>
          <a:prstGeom prst="rect">
            <a:avLst/>
          </a:prstGeom>
          <a:solidFill>
            <a:srgbClr val="FF8800">
              <a:alpha val="25000"/>
            </a:srgbClr>
          </a:solidFill>
          <a:ln w="12700">
            <a:solidFill>
              <a:srgbClr val="FF8800"/>
            </a:solidFill>
            <a:prstDash val="solid"/>
          </a:ln>
        </p:spPr>
      </p:sp>
      <p:sp>
        <p:nvSpPr>
          <p:cNvPr id="28" name="Text 26"/>
          <p:cNvSpPr/>
          <p:nvPr/>
        </p:nvSpPr>
        <p:spPr>
          <a:xfrm>
            <a:off x="4892040" y="2450592"/>
            <a:ext cx="1371600" cy="256032"/>
          </a:xfrm>
          <a:prstGeom prst="rect">
            <a:avLst/>
          </a:prstGeom>
          <a:noFill/>
          <a:ln/>
        </p:spPr>
        <p:txBody>
          <a:bodyPr wrap="square" rtlCol="0" anchor="ctr"/>
          <a:lstStyle/>
          <a:p>
            <a:pPr algn="ctr" indent="0" marL="0">
              <a:buNone/>
            </a:pPr>
            <a:r>
              <a:rPr lang="en-US" sz="900" b="1" dirty="0">
                <a:solidFill>
                  <a:srgbClr val="FF8800"/>
                </a:solidFill>
                <a:latin typeface="Consolas" pitchFamily="34" charset="0"/>
                <a:ea typeface="Consolas" pitchFamily="34" charset="-122"/>
                <a:cs typeface="Consolas" pitchFamily="34" charset="-120"/>
              </a:rPr>
              <a:t>dns</a:t>
            </a:r>
            <a:endParaRPr lang="en-US" sz="900" dirty="0"/>
          </a:p>
        </p:txBody>
      </p:sp>
      <p:sp>
        <p:nvSpPr>
          <p:cNvPr id="29" name="Text 27"/>
          <p:cNvSpPr/>
          <p:nvPr/>
        </p:nvSpPr>
        <p:spPr>
          <a:xfrm>
            <a:off x="6400800" y="2450592"/>
            <a:ext cx="2103120" cy="256032"/>
          </a:xfrm>
          <a:prstGeom prst="rect">
            <a:avLst/>
          </a:prstGeom>
          <a:noFill/>
          <a:ln/>
        </p:spPr>
        <p:txBody>
          <a:bodyPr wrap="square"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10.0.0.2</a:t>
            </a:r>
            <a:endParaRPr lang="en-US" sz="1200" dirty="0"/>
          </a:p>
        </p:txBody>
      </p:sp>
      <p:sp>
        <p:nvSpPr>
          <p:cNvPr id="30" name="Text 28"/>
          <p:cNvSpPr/>
          <p:nvPr/>
        </p:nvSpPr>
        <p:spPr>
          <a:xfrm>
            <a:off x="4937760" y="2788920"/>
            <a:ext cx="3474720" cy="5029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VULNERABLE DNS Resolver (target)</a:t>
            </a:r>
            <a:endParaRPr lang="en-US" sz="1100" dirty="0"/>
          </a:p>
        </p:txBody>
      </p:sp>
      <p:sp>
        <p:nvSpPr>
          <p:cNvPr id="31" name="Shape 29"/>
          <p:cNvSpPr/>
          <p:nvPr/>
        </p:nvSpPr>
        <p:spPr>
          <a:xfrm>
            <a:off x="2514600" y="3566160"/>
            <a:ext cx="3931920" cy="1005840"/>
          </a:xfrm>
          <a:prstGeom prst="rect">
            <a:avLst/>
          </a:prstGeom>
          <a:solidFill>
            <a:srgbClr val="1A2235"/>
          </a:solidFill>
          <a:ln w="12700">
            <a:solidFill>
              <a:srgbClr val="22C55E"/>
            </a:solidFill>
            <a:prstDash val="solid"/>
          </a:ln>
        </p:spPr>
      </p:sp>
      <p:sp>
        <p:nvSpPr>
          <p:cNvPr id="32" name="Shape 30"/>
          <p:cNvSpPr/>
          <p:nvPr/>
        </p:nvSpPr>
        <p:spPr>
          <a:xfrm>
            <a:off x="2514600" y="3566160"/>
            <a:ext cx="64008" cy="1005840"/>
          </a:xfrm>
          <a:prstGeom prst="rect">
            <a:avLst/>
          </a:prstGeom>
          <a:solidFill>
            <a:srgbClr val="22C55E"/>
          </a:solidFill>
          <a:ln w="12700">
            <a:solidFill>
              <a:srgbClr val="22C55E"/>
            </a:solidFill>
            <a:prstDash val="solid"/>
          </a:ln>
        </p:spPr>
      </p:sp>
      <p:sp>
        <p:nvSpPr>
          <p:cNvPr id="33" name="Shape 31"/>
          <p:cNvSpPr/>
          <p:nvPr/>
        </p:nvSpPr>
        <p:spPr>
          <a:xfrm>
            <a:off x="2651760" y="3639312"/>
            <a:ext cx="1371600" cy="256032"/>
          </a:xfrm>
          <a:prstGeom prst="rect">
            <a:avLst/>
          </a:prstGeom>
          <a:solidFill>
            <a:srgbClr val="22C55E">
              <a:alpha val="25000"/>
            </a:srgbClr>
          </a:solidFill>
          <a:ln w="12700">
            <a:solidFill>
              <a:srgbClr val="22C55E"/>
            </a:solidFill>
            <a:prstDash val="solid"/>
          </a:ln>
        </p:spPr>
      </p:sp>
      <p:sp>
        <p:nvSpPr>
          <p:cNvPr id="34" name="Text 32"/>
          <p:cNvSpPr/>
          <p:nvPr/>
        </p:nvSpPr>
        <p:spPr>
          <a:xfrm>
            <a:off x="2651760" y="3639312"/>
            <a:ext cx="1371600" cy="256032"/>
          </a:xfrm>
          <a:prstGeom prst="rect">
            <a:avLst/>
          </a:prstGeom>
          <a:noFill/>
          <a:ln/>
        </p:spPr>
        <p:txBody>
          <a:bodyPr wrap="square" rtlCol="0" anchor="ctr"/>
          <a:lstStyle/>
          <a:p>
            <a:pPr algn="ctr" indent="0" marL="0">
              <a:buNone/>
            </a:pPr>
            <a:r>
              <a:rPr lang="en-US" sz="900" b="1" dirty="0">
                <a:solidFill>
                  <a:srgbClr val="22C55E"/>
                </a:solidFill>
                <a:latin typeface="Consolas" pitchFamily="34" charset="0"/>
                <a:ea typeface="Consolas" pitchFamily="34" charset="-122"/>
                <a:cs typeface="Consolas" pitchFamily="34" charset="-120"/>
              </a:rPr>
              <a:t>dns_hardened</a:t>
            </a:r>
            <a:endParaRPr lang="en-US" sz="900" dirty="0"/>
          </a:p>
        </p:txBody>
      </p:sp>
      <p:sp>
        <p:nvSpPr>
          <p:cNvPr id="35" name="Text 33"/>
          <p:cNvSpPr/>
          <p:nvPr/>
        </p:nvSpPr>
        <p:spPr>
          <a:xfrm>
            <a:off x="4160520" y="3639312"/>
            <a:ext cx="2103120" cy="256032"/>
          </a:xfrm>
          <a:prstGeom prst="rect">
            <a:avLst/>
          </a:prstGeom>
          <a:noFill/>
          <a:ln/>
        </p:spPr>
        <p:txBody>
          <a:bodyPr wrap="square"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10.0.0.6</a:t>
            </a:r>
            <a:endParaRPr lang="en-US" sz="1200" dirty="0"/>
          </a:p>
        </p:txBody>
      </p:sp>
      <p:sp>
        <p:nvSpPr>
          <p:cNvPr id="36" name="Text 34"/>
          <p:cNvSpPr/>
          <p:nvPr/>
        </p:nvSpPr>
        <p:spPr>
          <a:xfrm>
            <a:off x="2697480" y="3977640"/>
            <a:ext cx="3474720" cy="5029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HARDENED DNS Resolver (patched)</a:t>
            </a:r>
            <a:endParaRPr lang="en-US" sz="1100" dirty="0"/>
          </a:p>
        </p:txBody>
      </p:sp>
      <p:sp>
        <p:nvSpPr>
          <p:cNvPr id="37" name="Shape 35"/>
          <p:cNvSpPr/>
          <p:nvPr/>
        </p:nvSpPr>
        <p:spPr>
          <a:xfrm>
            <a:off x="365760" y="4709160"/>
            <a:ext cx="8412480" cy="256032"/>
          </a:xfrm>
          <a:prstGeom prst="rect">
            <a:avLst/>
          </a:prstGeom>
          <a:solidFill>
            <a:srgbClr val="0A0E1A"/>
          </a:solidFill>
          <a:ln w="12700">
            <a:solidFill>
              <a:srgbClr val="1E3A5F"/>
            </a:solidFill>
            <a:prstDash val="solid"/>
          </a:ln>
        </p:spPr>
      </p:sp>
      <p:sp>
        <p:nvSpPr>
          <p:cNvPr id="38" name="Text 36"/>
          <p:cNvSpPr/>
          <p:nvPr/>
        </p:nvSpPr>
        <p:spPr>
          <a:xfrm>
            <a:off x="365760" y="4709160"/>
            <a:ext cx="8412480" cy="256032"/>
          </a:xfrm>
          <a:prstGeom prst="rect">
            <a:avLst/>
          </a:prstGeom>
          <a:noFill/>
          <a:ln/>
        </p:spPr>
        <p:txBody>
          <a:bodyPr wrap="square" rtlCol="0" anchor="ctr"/>
          <a:lstStyle/>
          <a:p>
            <a:pPr algn="ctr" indent="0" marL="0">
              <a:buNone/>
            </a:pPr>
            <a:r>
              <a:rPr lang="en-US" sz="950" dirty="0">
                <a:solidFill>
                  <a:srgbClr val="94A3B8"/>
                </a:solidFill>
                <a:latin typeface="Consolas" pitchFamily="34" charset="0"/>
                <a:ea typeface="Consolas" pitchFamily="34" charset="-122"/>
                <a:cs typeface="Consolas" pitchFamily="34" charset="-120"/>
              </a:rPr>
              <a:t>All containers connected via Docker bridge network  •  Subnet: 10.0.0.0/24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FF8800"/>
          </a:solidFill>
          <a:ln w="12700">
            <a:solidFill>
              <a:srgbClr val="FF8800"/>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FF8800"/>
                </a:solidFill>
                <a:latin typeface="Consolas" pitchFamily="34" charset="0"/>
                <a:ea typeface="Consolas" pitchFamily="34" charset="-122"/>
                <a:cs typeface="Consolas" pitchFamily="34" charset="-120"/>
              </a:rPr>
              <a:t>04</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Anatomy of the Vulnerable Server (10.0.0.2)</a:t>
            </a:r>
            <a:endParaRPr lang="en-US" sz="2100" dirty="0"/>
          </a:p>
        </p:txBody>
      </p:sp>
      <p:sp>
        <p:nvSpPr>
          <p:cNvPr id="6" name="Shape 4"/>
          <p:cNvSpPr/>
          <p:nvPr/>
        </p:nvSpPr>
        <p:spPr>
          <a:xfrm>
            <a:off x="365760" y="896112"/>
            <a:ext cx="8412480" cy="1463040"/>
          </a:xfrm>
          <a:prstGeom prst="rect">
            <a:avLst/>
          </a:prstGeom>
          <a:solidFill>
            <a:srgbClr val="1A2235"/>
          </a:solidFill>
          <a:ln w="12700">
            <a:solidFill>
              <a:srgbClr val="FF4444"/>
            </a:solidFill>
            <a:prstDash val="solid"/>
          </a:ln>
        </p:spPr>
      </p:sp>
      <p:sp>
        <p:nvSpPr>
          <p:cNvPr id="7" name="Shape 5"/>
          <p:cNvSpPr/>
          <p:nvPr/>
        </p:nvSpPr>
        <p:spPr>
          <a:xfrm>
            <a:off x="365760" y="896112"/>
            <a:ext cx="64008" cy="1463040"/>
          </a:xfrm>
          <a:prstGeom prst="rect">
            <a:avLst/>
          </a:prstGeom>
          <a:solidFill>
            <a:srgbClr val="FF4444"/>
          </a:solidFill>
          <a:ln w="12700">
            <a:solidFill>
              <a:srgbClr val="FF4444"/>
            </a:solidFill>
            <a:prstDash val="solid"/>
          </a:ln>
        </p:spPr>
      </p:sp>
      <p:sp>
        <p:nvSpPr>
          <p:cNvPr id="8" name="Text 6"/>
          <p:cNvSpPr/>
          <p:nvPr/>
        </p:nvSpPr>
        <p:spPr>
          <a:xfrm>
            <a:off x="566928" y="987552"/>
            <a:ext cx="7955280" cy="274320"/>
          </a:xfrm>
          <a:prstGeom prst="rect">
            <a:avLst/>
          </a:prstGeom>
          <a:noFill/>
          <a:ln/>
        </p:spPr>
        <p:txBody>
          <a:bodyPr wrap="square" rtlCol="0" anchor="ctr"/>
          <a:lstStyle/>
          <a:p>
            <a:pPr indent="0" marL="0">
              <a:buNone/>
            </a:pPr>
            <a:r>
              <a:rPr lang="en-US" sz="1300" b="1" dirty="0">
                <a:solidFill>
                  <a:srgbClr val="FF4444"/>
                </a:solidFill>
                <a:latin typeface="Calibri" pitchFamily="34" charset="0"/>
                <a:ea typeface="Calibri" pitchFamily="34" charset="-122"/>
                <a:cs typeface="Calibri" pitchFamily="34" charset="-120"/>
              </a:rPr>
              <a:t>FLAW 1 — Hardcoded Source Port</a:t>
            </a:r>
            <a:endParaRPr lang="en-US" sz="1300" dirty="0"/>
          </a:p>
        </p:txBody>
      </p:sp>
      <p:sp>
        <p:nvSpPr>
          <p:cNvPr id="9" name="Shape 7"/>
          <p:cNvSpPr/>
          <p:nvPr/>
        </p:nvSpPr>
        <p:spPr>
          <a:xfrm>
            <a:off x="566928" y="1280160"/>
            <a:ext cx="7772400" cy="384048"/>
          </a:xfrm>
          <a:prstGeom prst="rect">
            <a:avLst/>
          </a:prstGeom>
          <a:solidFill>
            <a:srgbClr val="0A0E1A"/>
          </a:solidFill>
          <a:ln w="12700">
            <a:solidFill>
              <a:srgbClr val="1E3A5F"/>
            </a:solidFill>
            <a:prstDash val="solid"/>
          </a:ln>
        </p:spPr>
      </p:sp>
      <p:sp>
        <p:nvSpPr>
          <p:cNvPr id="10" name="Text 8"/>
          <p:cNvSpPr/>
          <p:nvPr/>
        </p:nvSpPr>
        <p:spPr>
          <a:xfrm>
            <a:off x="566928" y="1280160"/>
            <a:ext cx="7772400" cy="384048"/>
          </a:xfrm>
          <a:prstGeom prst="rect">
            <a:avLst/>
          </a:prstGeom>
          <a:noFill/>
          <a:ln/>
        </p:spPr>
        <p:txBody>
          <a:bodyPr wrap="square" lIns="0" tIns="0" rIns="1905" bIns="0" rtlCol="0" anchor="ctr"/>
          <a:lstStyle/>
          <a:p>
            <a:pPr indent="0" marL="0">
              <a:buNone/>
            </a:pPr>
            <a:r>
              <a:rPr lang="en-US" sz="1250" dirty="0">
                <a:solidFill>
                  <a:srgbClr val="00D4FF"/>
                </a:solidFill>
                <a:latin typeface="Consolas" pitchFamily="34" charset="0"/>
                <a:ea typeface="Consolas" pitchFamily="34" charset="-122"/>
                <a:cs typeface="Consolas" pitchFamily="34" charset="-120"/>
              </a:rPr>
              <a:t>sock.bind(("10.0.0.2", 22222))</a:t>
            </a:r>
            <a:endParaRPr lang="en-US" sz="1250" dirty="0"/>
          </a:p>
        </p:txBody>
      </p:sp>
      <p:sp>
        <p:nvSpPr>
          <p:cNvPr id="11" name="Text 9"/>
          <p:cNvSpPr/>
          <p:nvPr/>
        </p:nvSpPr>
        <p:spPr>
          <a:xfrm>
            <a:off x="566928" y="1719072"/>
            <a:ext cx="7772400" cy="548640"/>
          </a:xfrm>
          <a:prstGeom prst="rect">
            <a:avLst/>
          </a:prstGeom>
          <a:noFill/>
          <a:ln/>
        </p:spPr>
        <p:txBody>
          <a:bodyPr wrap="square" rtlCol="0" anchor="ctr"/>
          <a:lstStyle/>
          <a:p>
            <a:pPr indent="0" marL="0">
              <a:buNone/>
            </a:pPr>
            <a:r>
              <a:rPr lang="en-US" sz="1150" dirty="0">
                <a:solidFill>
                  <a:srgbClr val="E2E8F0"/>
                </a:solidFill>
                <a:latin typeface="Calibri" pitchFamily="34" charset="0"/>
                <a:ea typeface="Calibri" pitchFamily="34" charset="-122"/>
                <a:cs typeface="Calibri" pitchFamily="34" charset="-120"/>
              </a:rPr>
              <a:t>The resolver always uses port 22222 for outgoing queries. The attacker knows exactly where to aim spoofed responses.</a:t>
            </a:r>
            <a:endParaRPr lang="en-US" sz="1150" dirty="0"/>
          </a:p>
        </p:txBody>
      </p:sp>
      <p:sp>
        <p:nvSpPr>
          <p:cNvPr id="12" name="Shape 10"/>
          <p:cNvSpPr/>
          <p:nvPr/>
        </p:nvSpPr>
        <p:spPr>
          <a:xfrm>
            <a:off x="365760" y="2542032"/>
            <a:ext cx="8412480" cy="1463040"/>
          </a:xfrm>
          <a:prstGeom prst="rect">
            <a:avLst/>
          </a:prstGeom>
          <a:solidFill>
            <a:srgbClr val="1A2235"/>
          </a:solidFill>
          <a:ln w="12700">
            <a:solidFill>
              <a:srgbClr val="FF8800"/>
            </a:solidFill>
            <a:prstDash val="solid"/>
          </a:ln>
        </p:spPr>
      </p:sp>
      <p:sp>
        <p:nvSpPr>
          <p:cNvPr id="13" name="Shape 11"/>
          <p:cNvSpPr/>
          <p:nvPr/>
        </p:nvSpPr>
        <p:spPr>
          <a:xfrm>
            <a:off x="365760" y="2542032"/>
            <a:ext cx="64008" cy="1463040"/>
          </a:xfrm>
          <a:prstGeom prst="rect">
            <a:avLst/>
          </a:prstGeom>
          <a:solidFill>
            <a:srgbClr val="FF8800"/>
          </a:solidFill>
          <a:ln w="12700">
            <a:solidFill>
              <a:srgbClr val="FF8800"/>
            </a:solidFill>
            <a:prstDash val="solid"/>
          </a:ln>
        </p:spPr>
      </p:sp>
      <p:sp>
        <p:nvSpPr>
          <p:cNvPr id="14" name="Text 12"/>
          <p:cNvSpPr/>
          <p:nvPr/>
        </p:nvSpPr>
        <p:spPr>
          <a:xfrm>
            <a:off x="566928" y="2633472"/>
            <a:ext cx="7955280" cy="274320"/>
          </a:xfrm>
          <a:prstGeom prst="rect">
            <a:avLst/>
          </a:prstGeom>
          <a:noFill/>
          <a:ln/>
        </p:spPr>
        <p:txBody>
          <a:bodyPr wrap="square" rtlCol="0" anchor="ctr"/>
          <a:lstStyle/>
          <a:p>
            <a:pPr indent="0" marL="0">
              <a:buNone/>
            </a:pPr>
            <a:r>
              <a:rPr lang="en-US" sz="1300" b="1" dirty="0">
                <a:solidFill>
                  <a:srgbClr val="FF8800"/>
                </a:solidFill>
                <a:latin typeface="Calibri" pitchFamily="34" charset="0"/>
                <a:ea typeface="Calibri" pitchFamily="34" charset="-122"/>
                <a:cs typeface="Calibri" pitchFamily="34" charset="-120"/>
              </a:rPr>
              <a:t>FLAW 2 — Weak Transaction IDs</a:t>
            </a:r>
            <a:endParaRPr lang="en-US" sz="1300" dirty="0"/>
          </a:p>
        </p:txBody>
      </p:sp>
      <p:sp>
        <p:nvSpPr>
          <p:cNvPr id="15" name="Shape 13"/>
          <p:cNvSpPr/>
          <p:nvPr/>
        </p:nvSpPr>
        <p:spPr>
          <a:xfrm>
            <a:off x="566928" y="2926080"/>
            <a:ext cx="7772400" cy="384048"/>
          </a:xfrm>
          <a:prstGeom prst="rect">
            <a:avLst/>
          </a:prstGeom>
          <a:solidFill>
            <a:srgbClr val="0A0E1A"/>
          </a:solidFill>
          <a:ln w="12700">
            <a:solidFill>
              <a:srgbClr val="1E3A5F"/>
            </a:solidFill>
            <a:prstDash val="solid"/>
          </a:ln>
        </p:spPr>
      </p:sp>
      <p:sp>
        <p:nvSpPr>
          <p:cNvPr id="16" name="Text 14"/>
          <p:cNvSpPr/>
          <p:nvPr/>
        </p:nvSpPr>
        <p:spPr>
          <a:xfrm>
            <a:off x="566928" y="2926080"/>
            <a:ext cx="7772400" cy="384048"/>
          </a:xfrm>
          <a:prstGeom prst="rect">
            <a:avLst/>
          </a:prstGeom>
          <a:noFill/>
          <a:ln/>
        </p:spPr>
        <p:txBody>
          <a:bodyPr wrap="square" lIns="0" tIns="0" rIns="1905" bIns="0" rtlCol="0" anchor="ctr"/>
          <a:lstStyle/>
          <a:p>
            <a:pPr indent="0" marL="0">
              <a:buNone/>
            </a:pPr>
            <a:r>
              <a:rPr lang="en-US" sz="1250" dirty="0">
                <a:solidFill>
                  <a:srgbClr val="00D4FF"/>
                </a:solidFill>
                <a:latin typeface="Consolas" pitchFamily="34" charset="0"/>
                <a:ea typeface="Consolas" pitchFamily="34" charset="-122"/>
                <a:cs typeface="Consolas" pitchFamily="34" charset="-120"/>
              </a:rPr>
              <a:t>qid = randint(10000, 10050)</a:t>
            </a:r>
            <a:endParaRPr lang="en-US" sz="1250" dirty="0"/>
          </a:p>
        </p:txBody>
      </p:sp>
      <p:sp>
        <p:nvSpPr>
          <p:cNvPr id="17" name="Text 15"/>
          <p:cNvSpPr/>
          <p:nvPr/>
        </p:nvSpPr>
        <p:spPr>
          <a:xfrm>
            <a:off x="566928" y="3364992"/>
            <a:ext cx="7772400" cy="548640"/>
          </a:xfrm>
          <a:prstGeom prst="rect">
            <a:avLst/>
          </a:prstGeom>
          <a:noFill/>
          <a:ln/>
        </p:spPr>
        <p:txBody>
          <a:bodyPr wrap="square" rtlCol="0" anchor="ctr"/>
          <a:lstStyle/>
          <a:p>
            <a:pPr indent="0" marL="0">
              <a:buNone/>
            </a:pPr>
            <a:r>
              <a:rPr lang="en-US" sz="1150" dirty="0">
                <a:solidFill>
                  <a:srgbClr val="E2E8F0"/>
                </a:solidFill>
                <a:latin typeface="Calibri" pitchFamily="34" charset="0"/>
                <a:ea typeface="Calibri" pitchFamily="34" charset="-122"/>
                <a:cs typeface="Calibri" pitchFamily="34" charset="-120"/>
              </a:rPr>
              <a:t>Only 50 possible Transaction ID values. An attacker can brute-force all 50 in a single burst — nearly guaranteed collision.</a:t>
            </a:r>
            <a:endParaRPr lang="en-US" sz="1150" dirty="0"/>
          </a:p>
        </p:txBody>
      </p:sp>
      <p:sp>
        <p:nvSpPr>
          <p:cNvPr id="18" name="Shape 16"/>
          <p:cNvSpPr/>
          <p:nvPr/>
        </p:nvSpPr>
        <p:spPr>
          <a:xfrm>
            <a:off x="365760" y="4251960"/>
            <a:ext cx="8412480" cy="594360"/>
          </a:xfrm>
          <a:prstGeom prst="rect">
            <a:avLst/>
          </a:prstGeom>
          <a:solidFill>
            <a:srgbClr val="3B0000"/>
          </a:solidFill>
          <a:ln w="12700">
            <a:solidFill>
              <a:srgbClr val="FF4444"/>
            </a:solidFill>
            <a:prstDash val="solid"/>
          </a:ln>
        </p:spPr>
      </p:sp>
      <p:sp>
        <p:nvSpPr>
          <p:cNvPr id="19" name="Text 17"/>
          <p:cNvSpPr/>
          <p:nvPr/>
        </p:nvSpPr>
        <p:spPr>
          <a:xfrm>
            <a:off x="457200" y="4251960"/>
            <a:ext cx="8229600" cy="594360"/>
          </a:xfrm>
          <a:prstGeom prst="rect">
            <a:avLst/>
          </a:prstGeom>
          <a:noFill/>
          <a:ln/>
        </p:spPr>
        <p:txBody>
          <a:bodyPr wrap="square" rtlCol="0" anchor="ctr"/>
          <a:lstStyle/>
          <a:p>
            <a:pPr indent="0" marL="0">
              <a:buNone/>
            </a:pPr>
            <a:r>
              <a:rPr lang="en-US" sz="1250" b="1" dirty="0">
                <a:solidFill>
                  <a:srgbClr val="FF4444"/>
                </a:solidFill>
                <a:latin typeface="Calibri" pitchFamily="34" charset="0"/>
                <a:ea typeface="Calibri" pitchFamily="34" charset="-122"/>
                <a:cs typeface="Calibri" pitchFamily="34" charset="-120"/>
              </a:rPr>
              <a:t>⚠  Attacker Advantage: Known port (22222) + only 50 ID guesses = near-instant cache poisoning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FF4444"/>
          </a:solidFill>
          <a:ln w="12700">
            <a:solidFill>
              <a:srgbClr val="FF4444"/>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FF4444"/>
                </a:solidFill>
                <a:latin typeface="Consolas" pitchFamily="34" charset="0"/>
                <a:ea typeface="Consolas" pitchFamily="34" charset="-122"/>
                <a:cs typeface="Consolas" pitchFamily="34" charset="-120"/>
              </a:rPr>
              <a:t>05</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Executing the Attack — The Kaminsky Method</a:t>
            </a:r>
            <a:endParaRPr lang="en-US" sz="2100" dirty="0"/>
          </a:p>
        </p:txBody>
      </p:sp>
      <p:sp>
        <p:nvSpPr>
          <p:cNvPr id="6" name="Shape 4"/>
          <p:cNvSpPr/>
          <p:nvPr/>
        </p:nvSpPr>
        <p:spPr>
          <a:xfrm>
            <a:off x="365760" y="896112"/>
            <a:ext cx="5029200" cy="868680"/>
          </a:xfrm>
          <a:prstGeom prst="rect">
            <a:avLst/>
          </a:prstGeom>
          <a:solidFill>
            <a:srgbClr val="1A2235"/>
          </a:solidFill>
          <a:ln w="6350">
            <a:solidFill>
              <a:srgbClr val="00D4FF"/>
            </a:solidFill>
            <a:prstDash val="solid"/>
          </a:ln>
        </p:spPr>
      </p:sp>
      <p:sp>
        <p:nvSpPr>
          <p:cNvPr id="7" name="Shape 5"/>
          <p:cNvSpPr/>
          <p:nvPr/>
        </p:nvSpPr>
        <p:spPr>
          <a:xfrm>
            <a:off x="365760" y="896112"/>
            <a:ext cx="594360" cy="868680"/>
          </a:xfrm>
          <a:prstGeom prst="rect">
            <a:avLst/>
          </a:prstGeom>
          <a:solidFill>
            <a:srgbClr val="00D4FF">
              <a:alpha val="20000"/>
            </a:srgbClr>
          </a:solidFill>
          <a:ln w="12700">
            <a:solidFill>
              <a:srgbClr val="00D4FF"/>
            </a:solidFill>
            <a:prstDash val="solid"/>
          </a:ln>
        </p:spPr>
      </p:sp>
      <p:sp>
        <p:nvSpPr>
          <p:cNvPr id="8" name="Text 6"/>
          <p:cNvSpPr/>
          <p:nvPr/>
        </p:nvSpPr>
        <p:spPr>
          <a:xfrm>
            <a:off x="365760" y="896112"/>
            <a:ext cx="594360" cy="868680"/>
          </a:xfrm>
          <a:prstGeom prst="rect">
            <a:avLst/>
          </a:prstGeom>
          <a:noFill/>
          <a:ln/>
        </p:spPr>
        <p:txBody>
          <a:bodyPr wrap="square" rtlCol="0" anchor="ctr"/>
          <a:lstStyle/>
          <a:p>
            <a:pPr algn="ctr" indent="0" marL="0">
              <a:buNone/>
            </a:pPr>
            <a:r>
              <a:rPr lang="en-US" sz="1600" b="1" dirty="0">
                <a:solidFill>
                  <a:srgbClr val="00D4FF"/>
                </a:solidFill>
                <a:latin typeface="Consolas" pitchFamily="34" charset="0"/>
                <a:ea typeface="Consolas" pitchFamily="34" charset="-122"/>
                <a:cs typeface="Consolas" pitchFamily="34" charset="-120"/>
              </a:rPr>
              <a:t>01</a:t>
            </a:r>
            <a:endParaRPr lang="en-US" sz="1600" dirty="0"/>
          </a:p>
        </p:txBody>
      </p:sp>
      <p:sp>
        <p:nvSpPr>
          <p:cNvPr id="9" name="Text 7"/>
          <p:cNvSpPr/>
          <p:nvPr/>
        </p:nvSpPr>
        <p:spPr>
          <a:xfrm>
            <a:off x="1078992" y="969264"/>
            <a:ext cx="4206240" cy="27432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Trigger Cache Miss</a:t>
            </a:r>
            <a:endParaRPr lang="en-US" sz="1300" dirty="0"/>
          </a:p>
        </p:txBody>
      </p:sp>
      <p:sp>
        <p:nvSpPr>
          <p:cNvPr id="10" name="Text 8"/>
          <p:cNvSpPr/>
          <p:nvPr/>
        </p:nvSpPr>
        <p:spPr>
          <a:xfrm>
            <a:off x="1078992" y="1280160"/>
            <a:ext cx="4206240" cy="411480"/>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Send a legitimate DNS query to the vulnerable resolver, forcing it to issue a real upstream request.</a:t>
            </a:r>
            <a:endParaRPr lang="en-US" sz="1050" dirty="0"/>
          </a:p>
        </p:txBody>
      </p:sp>
      <p:sp>
        <p:nvSpPr>
          <p:cNvPr id="11" name="Shape 9"/>
          <p:cNvSpPr/>
          <p:nvPr/>
        </p:nvSpPr>
        <p:spPr>
          <a:xfrm>
            <a:off x="365760" y="1920240"/>
            <a:ext cx="5029200" cy="868680"/>
          </a:xfrm>
          <a:prstGeom prst="rect">
            <a:avLst/>
          </a:prstGeom>
          <a:solidFill>
            <a:srgbClr val="1A2235"/>
          </a:solidFill>
          <a:ln w="6350">
            <a:solidFill>
              <a:srgbClr val="FBBF24"/>
            </a:solidFill>
            <a:prstDash val="solid"/>
          </a:ln>
        </p:spPr>
      </p:sp>
      <p:sp>
        <p:nvSpPr>
          <p:cNvPr id="12" name="Shape 10"/>
          <p:cNvSpPr/>
          <p:nvPr/>
        </p:nvSpPr>
        <p:spPr>
          <a:xfrm>
            <a:off x="365760" y="1920240"/>
            <a:ext cx="594360" cy="868680"/>
          </a:xfrm>
          <a:prstGeom prst="rect">
            <a:avLst/>
          </a:prstGeom>
          <a:solidFill>
            <a:srgbClr val="FBBF24">
              <a:alpha val="20000"/>
            </a:srgbClr>
          </a:solidFill>
          <a:ln w="12700">
            <a:solidFill>
              <a:srgbClr val="FBBF24"/>
            </a:solidFill>
            <a:prstDash val="solid"/>
          </a:ln>
        </p:spPr>
      </p:sp>
      <p:sp>
        <p:nvSpPr>
          <p:cNvPr id="13" name="Text 11"/>
          <p:cNvSpPr/>
          <p:nvPr/>
        </p:nvSpPr>
        <p:spPr>
          <a:xfrm>
            <a:off x="365760" y="1920240"/>
            <a:ext cx="594360" cy="868680"/>
          </a:xfrm>
          <a:prstGeom prst="rect">
            <a:avLst/>
          </a:prstGeom>
          <a:noFill/>
          <a:ln/>
        </p:spPr>
        <p:txBody>
          <a:bodyPr wrap="square" rtlCol="0" anchor="ctr"/>
          <a:lstStyle/>
          <a:p>
            <a:pPr algn="ctr" indent="0" marL="0">
              <a:buNone/>
            </a:pPr>
            <a:r>
              <a:rPr lang="en-US" sz="1600" b="1" dirty="0">
                <a:solidFill>
                  <a:srgbClr val="FBBF24"/>
                </a:solidFill>
                <a:latin typeface="Consolas" pitchFamily="34" charset="0"/>
                <a:ea typeface="Consolas" pitchFamily="34" charset="-122"/>
                <a:cs typeface="Consolas" pitchFamily="34" charset="-120"/>
              </a:rPr>
              <a:t>02</a:t>
            </a:r>
            <a:endParaRPr lang="en-US" sz="1600" dirty="0"/>
          </a:p>
        </p:txBody>
      </p:sp>
      <p:sp>
        <p:nvSpPr>
          <p:cNvPr id="14" name="Text 12"/>
          <p:cNvSpPr/>
          <p:nvPr/>
        </p:nvSpPr>
        <p:spPr>
          <a:xfrm>
            <a:off x="1078992" y="1993392"/>
            <a:ext cx="4206240" cy="274320"/>
          </a:xfrm>
          <a:prstGeom prst="rect">
            <a:avLst/>
          </a:prstGeom>
          <a:noFill/>
          <a:ln/>
        </p:spPr>
        <p:txBody>
          <a:bodyPr wrap="square"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Race the Upstream Server</a:t>
            </a:r>
            <a:endParaRPr lang="en-US" sz="1300" dirty="0"/>
          </a:p>
        </p:txBody>
      </p:sp>
      <p:sp>
        <p:nvSpPr>
          <p:cNvPr id="15" name="Text 13"/>
          <p:cNvSpPr/>
          <p:nvPr/>
        </p:nvSpPr>
        <p:spPr>
          <a:xfrm>
            <a:off x="1078992" y="2304288"/>
            <a:ext cx="4206240" cy="411480"/>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Before the real upstream server (10.0.0.5) can reply, flood the resolver with forged responses.</a:t>
            </a:r>
            <a:endParaRPr lang="en-US" sz="1050" dirty="0"/>
          </a:p>
        </p:txBody>
      </p:sp>
      <p:sp>
        <p:nvSpPr>
          <p:cNvPr id="16" name="Shape 14"/>
          <p:cNvSpPr/>
          <p:nvPr/>
        </p:nvSpPr>
        <p:spPr>
          <a:xfrm>
            <a:off x="365760" y="2944368"/>
            <a:ext cx="5029200" cy="868680"/>
          </a:xfrm>
          <a:prstGeom prst="rect">
            <a:avLst/>
          </a:prstGeom>
          <a:solidFill>
            <a:srgbClr val="1A2235"/>
          </a:solidFill>
          <a:ln w="6350">
            <a:solidFill>
              <a:srgbClr val="FF8800"/>
            </a:solidFill>
            <a:prstDash val="solid"/>
          </a:ln>
        </p:spPr>
      </p:sp>
      <p:sp>
        <p:nvSpPr>
          <p:cNvPr id="17" name="Shape 15"/>
          <p:cNvSpPr/>
          <p:nvPr/>
        </p:nvSpPr>
        <p:spPr>
          <a:xfrm>
            <a:off x="365760" y="2944368"/>
            <a:ext cx="594360" cy="868680"/>
          </a:xfrm>
          <a:prstGeom prst="rect">
            <a:avLst/>
          </a:prstGeom>
          <a:solidFill>
            <a:srgbClr val="FF8800">
              <a:alpha val="20000"/>
            </a:srgbClr>
          </a:solidFill>
          <a:ln w="12700">
            <a:solidFill>
              <a:srgbClr val="FF8800"/>
            </a:solidFill>
            <a:prstDash val="solid"/>
          </a:ln>
        </p:spPr>
      </p:sp>
      <p:sp>
        <p:nvSpPr>
          <p:cNvPr id="18" name="Text 16"/>
          <p:cNvSpPr/>
          <p:nvPr/>
        </p:nvSpPr>
        <p:spPr>
          <a:xfrm>
            <a:off x="365760" y="2944368"/>
            <a:ext cx="594360" cy="868680"/>
          </a:xfrm>
          <a:prstGeom prst="rect">
            <a:avLst/>
          </a:prstGeom>
          <a:noFill/>
          <a:ln/>
        </p:spPr>
        <p:txBody>
          <a:bodyPr wrap="square" rtlCol="0" anchor="ctr"/>
          <a:lstStyle/>
          <a:p>
            <a:pPr algn="ctr" indent="0" marL="0">
              <a:buNone/>
            </a:pPr>
            <a:r>
              <a:rPr lang="en-US" sz="1600" b="1" dirty="0">
                <a:solidFill>
                  <a:srgbClr val="FF8800"/>
                </a:solidFill>
                <a:latin typeface="Consolas" pitchFamily="34" charset="0"/>
                <a:ea typeface="Consolas" pitchFamily="34" charset="-122"/>
                <a:cs typeface="Consolas" pitchFamily="34" charset="-120"/>
              </a:rPr>
              <a:t>03</a:t>
            </a:r>
            <a:endParaRPr lang="en-US" sz="1600" dirty="0"/>
          </a:p>
        </p:txBody>
      </p:sp>
      <p:sp>
        <p:nvSpPr>
          <p:cNvPr id="19" name="Text 17"/>
          <p:cNvSpPr/>
          <p:nvPr/>
        </p:nvSpPr>
        <p:spPr>
          <a:xfrm>
            <a:off x="1078992" y="3017520"/>
            <a:ext cx="4206240" cy="274320"/>
          </a:xfrm>
          <a:prstGeom prst="rect">
            <a:avLst/>
          </a:prstGeom>
          <a:noFill/>
          <a:ln/>
        </p:spPr>
        <p:txBody>
          <a:bodyPr wrap="square" rtlCol="0" anchor="ctr"/>
          <a:lstStyle/>
          <a:p>
            <a:pPr indent="0" marL="0">
              <a:buNone/>
            </a:pPr>
            <a:r>
              <a:rPr lang="en-US" sz="1300" b="1" dirty="0">
                <a:solidFill>
                  <a:srgbClr val="FF8800"/>
                </a:solidFill>
                <a:latin typeface="Calibri" pitchFamily="34" charset="0"/>
                <a:ea typeface="Calibri" pitchFamily="34" charset="-122"/>
                <a:cs typeface="Calibri" pitchFamily="34" charset="-120"/>
              </a:rPr>
              <a:t>Spoof the Response</a:t>
            </a:r>
            <a:endParaRPr lang="en-US" sz="1300" dirty="0"/>
          </a:p>
        </p:txBody>
      </p:sp>
      <p:sp>
        <p:nvSpPr>
          <p:cNvPr id="20" name="Text 18"/>
          <p:cNvSpPr/>
          <p:nvPr/>
        </p:nvSpPr>
        <p:spPr>
          <a:xfrm>
            <a:off x="1078992" y="3328416"/>
            <a:ext cx="4206240" cy="411480"/>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Fake the source IP as 10.0.0.5 and target destination port 22222 — the known, hardcoded port.</a:t>
            </a:r>
            <a:endParaRPr lang="en-US" sz="1050" dirty="0"/>
          </a:p>
        </p:txBody>
      </p:sp>
      <p:sp>
        <p:nvSpPr>
          <p:cNvPr id="21" name="Shape 19"/>
          <p:cNvSpPr/>
          <p:nvPr/>
        </p:nvSpPr>
        <p:spPr>
          <a:xfrm>
            <a:off x="365760" y="3968496"/>
            <a:ext cx="5029200" cy="868680"/>
          </a:xfrm>
          <a:prstGeom prst="rect">
            <a:avLst/>
          </a:prstGeom>
          <a:solidFill>
            <a:srgbClr val="1A2235"/>
          </a:solidFill>
          <a:ln w="6350">
            <a:solidFill>
              <a:srgbClr val="FF4444"/>
            </a:solidFill>
            <a:prstDash val="solid"/>
          </a:ln>
        </p:spPr>
      </p:sp>
      <p:sp>
        <p:nvSpPr>
          <p:cNvPr id="22" name="Shape 20"/>
          <p:cNvSpPr/>
          <p:nvPr/>
        </p:nvSpPr>
        <p:spPr>
          <a:xfrm>
            <a:off x="365760" y="3968496"/>
            <a:ext cx="594360" cy="868680"/>
          </a:xfrm>
          <a:prstGeom prst="rect">
            <a:avLst/>
          </a:prstGeom>
          <a:solidFill>
            <a:srgbClr val="FF4444">
              <a:alpha val="20000"/>
            </a:srgbClr>
          </a:solidFill>
          <a:ln w="12700">
            <a:solidFill>
              <a:srgbClr val="FF4444"/>
            </a:solidFill>
            <a:prstDash val="solid"/>
          </a:ln>
        </p:spPr>
      </p:sp>
      <p:sp>
        <p:nvSpPr>
          <p:cNvPr id="23" name="Text 21"/>
          <p:cNvSpPr/>
          <p:nvPr/>
        </p:nvSpPr>
        <p:spPr>
          <a:xfrm>
            <a:off x="365760" y="3968496"/>
            <a:ext cx="594360" cy="868680"/>
          </a:xfrm>
          <a:prstGeom prst="rect">
            <a:avLst/>
          </a:prstGeom>
          <a:noFill/>
          <a:ln/>
        </p:spPr>
        <p:txBody>
          <a:bodyPr wrap="square" rtlCol="0" anchor="ctr"/>
          <a:lstStyle/>
          <a:p>
            <a:pPr algn="ctr" indent="0" marL="0">
              <a:buNone/>
            </a:pPr>
            <a:r>
              <a:rPr lang="en-US" sz="1600" b="1" dirty="0">
                <a:solidFill>
                  <a:srgbClr val="FF4444"/>
                </a:solidFill>
                <a:latin typeface="Consolas" pitchFamily="34" charset="0"/>
                <a:ea typeface="Consolas" pitchFamily="34" charset="-122"/>
                <a:cs typeface="Consolas" pitchFamily="34" charset="-120"/>
              </a:rPr>
              <a:t>04</a:t>
            </a:r>
            <a:endParaRPr lang="en-US" sz="1600" dirty="0"/>
          </a:p>
        </p:txBody>
      </p:sp>
      <p:sp>
        <p:nvSpPr>
          <p:cNvPr id="24" name="Text 22"/>
          <p:cNvSpPr/>
          <p:nvPr/>
        </p:nvSpPr>
        <p:spPr>
          <a:xfrm>
            <a:off x="1078992" y="4041648"/>
            <a:ext cx="4206240" cy="274320"/>
          </a:xfrm>
          <a:prstGeom prst="rect">
            <a:avLst/>
          </a:prstGeom>
          <a:noFill/>
          <a:ln/>
        </p:spPr>
        <p:txBody>
          <a:bodyPr wrap="square" rtlCol="0" anchor="ctr"/>
          <a:lstStyle/>
          <a:p>
            <a:pPr indent="0" marL="0">
              <a:buNone/>
            </a:pPr>
            <a:r>
              <a:rPr lang="en-US" sz="1300" b="1" dirty="0">
                <a:solidFill>
                  <a:srgbClr val="FF4444"/>
                </a:solidFill>
                <a:latin typeface="Calibri" pitchFamily="34" charset="0"/>
                <a:ea typeface="Calibri" pitchFamily="34" charset="-122"/>
                <a:cs typeface="Calibri" pitchFamily="34" charset="-120"/>
              </a:rPr>
              <a:t>Brute-Force the TX-ID</a:t>
            </a:r>
            <a:endParaRPr lang="en-US" sz="1300" dirty="0"/>
          </a:p>
        </p:txBody>
      </p:sp>
      <p:sp>
        <p:nvSpPr>
          <p:cNvPr id="25" name="Text 23"/>
          <p:cNvSpPr/>
          <p:nvPr/>
        </p:nvSpPr>
        <p:spPr>
          <a:xfrm>
            <a:off x="1078992" y="4352544"/>
            <a:ext cx="4206240" cy="411480"/>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Loop through all 50 possible IDs (10000–10050), injecting the malicious IP 6.6.6.6 for example.com.</a:t>
            </a:r>
            <a:endParaRPr lang="en-US" sz="1050" dirty="0"/>
          </a:p>
        </p:txBody>
      </p:sp>
      <p:sp>
        <p:nvSpPr>
          <p:cNvPr id="26" name="Shape 24"/>
          <p:cNvSpPr/>
          <p:nvPr/>
        </p:nvSpPr>
        <p:spPr>
          <a:xfrm>
            <a:off x="5669280" y="896112"/>
            <a:ext cx="3108960" cy="4114800"/>
          </a:xfrm>
          <a:prstGeom prst="rect">
            <a:avLst/>
          </a:prstGeom>
          <a:solidFill>
            <a:srgbClr val="1A2235"/>
          </a:solidFill>
          <a:ln w="12700">
            <a:solidFill>
              <a:srgbClr val="1E3A5F"/>
            </a:solidFill>
            <a:prstDash val="solid"/>
          </a:ln>
        </p:spPr>
      </p:sp>
      <p:sp>
        <p:nvSpPr>
          <p:cNvPr id="27" name="Shape 25"/>
          <p:cNvSpPr/>
          <p:nvPr/>
        </p:nvSpPr>
        <p:spPr>
          <a:xfrm>
            <a:off x="5669280" y="896112"/>
            <a:ext cx="3108960" cy="411480"/>
          </a:xfrm>
          <a:prstGeom prst="rect">
            <a:avLst/>
          </a:prstGeom>
          <a:solidFill>
            <a:srgbClr val="FF4444">
              <a:alpha val="30000"/>
            </a:srgbClr>
          </a:solidFill>
          <a:ln w="12700">
            <a:solidFill>
              <a:srgbClr val="FF4444"/>
            </a:solidFill>
            <a:prstDash val="solid"/>
          </a:ln>
        </p:spPr>
      </p:sp>
      <p:sp>
        <p:nvSpPr>
          <p:cNvPr id="28" name="Text 26"/>
          <p:cNvSpPr/>
          <p:nvPr/>
        </p:nvSpPr>
        <p:spPr>
          <a:xfrm>
            <a:off x="5669280" y="896112"/>
            <a:ext cx="3108960" cy="411480"/>
          </a:xfrm>
          <a:prstGeom prst="rect">
            <a:avLst/>
          </a:prstGeom>
          <a:noFill/>
          <a:ln/>
        </p:spPr>
        <p:txBody>
          <a:bodyPr wrap="square"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ATTACK PARAMETERS</a:t>
            </a:r>
            <a:endParaRPr lang="en-US" sz="1100" dirty="0"/>
          </a:p>
        </p:txBody>
      </p:sp>
      <p:sp>
        <p:nvSpPr>
          <p:cNvPr id="29" name="Shape 27"/>
          <p:cNvSpPr/>
          <p:nvPr/>
        </p:nvSpPr>
        <p:spPr>
          <a:xfrm>
            <a:off x="5669280" y="1389888"/>
            <a:ext cx="3108960" cy="438912"/>
          </a:xfrm>
          <a:prstGeom prst="rect">
            <a:avLst/>
          </a:prstGeom>
          <a:solidFill>
            <a:srgbClr val="141E30"/>
          </a:solidFill>
          <a:ln w="6350">
            <a:solidFill>
              <a:srgbClr val="1E3A5F"/>
            </a:solidFill>
            <a:prstDash val="solid"/>
          </a:ln>
        </p:spPr>
      </p:sp>
      <p:sp>
        <p:nvSpPr>
          <p:cNvPr id="30" name="Text 28"/>
          <p:cNvSpPr/>
          <p:nvPr/>
        </p:nvSpPr>
        <p:spPr>
          <a:xfrm>
            <a:off x="5760720" y="1389888"/>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Target IP</a:t>
            </a:r>
            <a:endParaRPr lang="en-US" sz="1000" dirty="0"/>
          </a:p>
        </p:txBody>
      </p:sp>
      <p:sp>
        <p:nvSpPr>
          <p:cNvPr id="31" name="Text 29"/>
          <p:cNvSpPr/>
          <p:nvPr/>
        </p:nvSpPr>
        <p:spPr>
          <a:xfrm>
            <a:off x="7315200" y="1389888"/>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10.0.0.2</a:t>
            </a:r>
            <a:endParaRPr lang="en-US" sz="1100" dirty="0"/>
          </a:p>
        </p:txBody>
      </p:sp>
      <p:sp>
        <p:nvSpPr>
          <p:cNvPr id="32" name="Shape 30"/>
          <p:cNvSpPr/>
          <p:nvPr/>
        </p:nvSpPr>
        <p:spPr>
          <a:xfrm>
            <a:off x="5669280" y="1901952"/>
            <a:ext cx="3108960" cy="438912"/>
          </a:xfrm>
          <a:prstGeom prst="rect">
            <a:avLst/>
          </a:prstGeom>
          <a:solidFill>
            <a:srgbClr val="1A2235"/>
          </a:solidFill>
          <a:ln w="6350">
            <a:solidFill>
              <a:srgbClr val="1E3A5F"/>
            </a:solidFill>
            <a:prstDash val="solid"/>
          </a:ln>
        </p:spPr>
      </p:sp>
      <p:sp>
        <p:nvSpPr>
          <p:cNvPr id="33" name="Text 31"/>
          <p:cNvSpPr/>
          <p:nvPr/>
        </p:nvSpPr>
        <p:spPr>
          <a:xfrm>
            <a:off x="5760720" y="1901952"/>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Spoof IP</a:t>
            </a:r>
            <a:endParaRPr lang="en-US" sz="1000" dirty="0"/>
          </a:p>
        </p:txBody>
      </p:sp>
      <p:sp>
        <p:nvSpPr>
          <p:cNvPr id="34" name="Text 32"/>
          <p:cNvSpPr/>
          <p:nvPr/>
        </p:nvSpPr>
        <p:spPr>
          <a:xfrm>
            <a:off x="7315200" y="1901952"/>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10.0.0.5</a:t>
            </a:r>
            <a:endParaRPr lang="en-US" sz="1100" dirty="0"/>
          </a:p>
        </p:txBody>
      </p:sp>
      <p:sp>
        <p:nvSpPr>
          <p:cNvPr id="35" name="Shape 33"/>
          <p:cNvSpPr/>
          <p:nvPr/>
        </p:nvSpPr>
        <p:spPr>
          <a:xfrm>
            <a:off x="5669280" y="2414016"/>
            <a:ext cx="3108960" cy="438912"/>
          </a:xfrm>
          <a:prstGeom prst="rect">
            <a:avLst/>
          </a:prstGeom>
          <a:solidFill>
            <a:srgbClr val="141E30"/>
          </a:solidFill>
          <a:ln w="6350">
            <a:solidFill>
              <a:srgbClr val="1E3A5F"/>
            </a:solidFill>
            <a:prstDash val="solid"/>
          </a:ln>
        </p:spPr>
      </p:sp>
      <p:sp>
        <p:nvSpPr>
          <p:cNvPr id="36" name="Text 34"/>
          <p:cNvSpPr/>
          <p:nvPr/>
        </p:nvSpPr>
        <p:spPr>
          <a:xfrm>
            <a:off x="5760720" y="2414016"/>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Dest Port</a:t>
            </a:r>
            <a:endParaRPr lang="en-US" sz="1000" dirty="0"/>
          </a:p>
        </p:txBody>
      </p:sp>
      <p:sp>
        <p:nvSpPr>
          <p:cNvPr id="37" name="Text 35"/>
          <p:cNvSpPr/>
          <p:nvPr/>
        </p:nvSpPr>
        <p:spPr>
          <a:xfrm>
            <a:off x="7315200" y="2414016"/>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22222</a:t>
            </a:r>
            <a:endParaRPr lang="en-US" sz="1100" dirty="0"/>
          </a:p>
        </p:txBody>
      </p:sp>
      <p:sp>
        <p:nvSpPr>
          <p:cNvPr id="38" name="Shape 36"/>
          <p:cNvSpPr/>
          <p:nvPr/>
        </p:nvSpPr>
        <p:spPr>
          <a:xfrm>
            <a:off x="5669280" y="2926080"/>
            <a:ext cx="3108960" cy="438912"/>
          </a:xfrm>
          <a:prstGeom prst="rect">
            <a:avLst/>
          </a:prstGeom>
          <a:solidFill>
            <a:srgbClr val="1A2235"/>
          </a:solidFill>
          <a:ln w="6350">
            <a:solidFill>
              <a:srgbClr val="1E3A5F"/>
            </a:solidFill>
            <a:prstDash val="solid"/>
          </a:ln>
        </p:spPr>
      </p:sp>
      <p:sp>
        <p:nvSpPr>
          <p:cNvPr id="39" name="Text 37"/>
          <p:cNvSpPr/>
          <p:nvPr/>
        </p:nvSpPr>
        <p:spPr>
          <a:xfrm>
            <a:off x="5760720" y="2926080"/>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TXIDs</a:t>
            </a:r>
            <a:endParaRPr lang="en-US" sz="1000" dirty="0"/>
          </a:p>
        </p:txBody>
      </p:sp>
      <p:sp>
        <p:nvSpPr>
          <p:cNvPr id="40" name="Text 38"/>
          <p:cNvSpPr/>
          <p:nvPr/>
        </p:nvSpPr>
        <p:spPr>
          <a:xfrm>
            <a:off x="7315200" y="2926080"/>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10000–10050</a:t>
            </a:r>
            <a:endParaRPr lang="en-US" sz="1100" dirty="0"/>
          </a:p>
        </p:txBody>
      </p:sp>
      <p:sp>
        <p:nvSpPr>
          <p:cNvPr id="41" name="Shape 39"/>
          <p:cNvSpPr/>
          <p:nvPr/>
        </p:nvSpPr>
        <p:spPr>
          <a:xfrm>
            <a:off x="5669280" y="3438144"/>
            <a:ext cx="3108960" cy="438912"/>
          </a:xfrm>
          <a:prstGeom prst="rect">
            <a:avLst/>
          </a:prstGeom>
          <a:solidFill>
            <a:srgbClr val="141E30"/>
          </a:solidFill>
          <a:ln w="6350">
            <a:solidFill>
              <a:srgbClr val="1E3A5F"/>
            </a:solidFill>
            <a:prstDash val="solid"/>
          </a:ln>
        </p:spPr>
      </p:sp>
      <p:sp>
        <p:nvSpPr>
          <p:cNvPr id="42" name="Text 40"/>
          <p:cNvSpPr/>
          <p:nvPr/>
        </p:nvSpPr>
        <p:spPr>
          <a:xfrm>
            <a:off x="5760720" y="3438144"/>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Max Guesses</a:t>
            </a:r>
            <a:endParaRPr lang="en-US" sz="1000" dirty="0"/>
          </a:p>
        </p:txBody>
      </p:sp>
      <p:sp>
        <p:nvSpPr>
          <p:cNvPr id="43" name="Text 41"/>
          <p:cNvSpPr/>
          <p:nvPr/>
        </p:nvSpPr>
        <p:spPr>
          <a:xfrm>
            <a:off x="7315200" y="3438144"/>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50</a:t>
            </a:r>
            <a:endParaRPr lang="en-US" sz="1100" dirty="0"/>
          </a:p>
        </p:txBody>
      </p:sp>
      <p:sp>
        <p:nvSpPr>
          <p:cNvPr id="44" name="Shape 42"/>
          <p:cNvSpPr/>
          <p:nvPr/>
        </p:nvSpPr>
        <p:spPr>
          <a:xfrm>
            <a:off x="5669280" y="3950208"/>
            <a:ext cx="3108960" cy="438912"/>
          </a:xfrm>
          <a:prstGeom prst="rect">
            <a:avLst/>
          </a:prstGeom>
          <a:solidFill>
            <a:srgbClr val="1A2235"/>
          </a:solidFill>
          <a:ln w="6350">
            <a:solidFill>
              <a:srgbClr val="1E3A5F"/>
            </a:solidFill>
            <a:prstDash val="solid"/>
          </a:ln>
        </p:spPr>
      </p:sp>
      <p:sp>
        <p:nvSpPr>
          <p:cNvPr id="45" name="Text 43"/>
          <p:cNvSpPr/>
          <p:nvPr/>
        </p:nvSpPr>
        <p:spPr>
          <a:xfrm>
            <a:off x="5760720" y="3950208"/>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Injected IP</a:t>
            </a:r>
            <a:endParaRPr lang="en-US" sz="1000" dirty="0"/>
          </a:p>
        </p:txBody>
      </p:sp>
      <p:sp>
        <p:nvSpPr>
          <p:cNvPr id="46" name="Text 44"/>
          <p:cNvSpPr/>
          <p:nvPr/>
        </p:nvSpPr>
        <p:spPr>
          <a:xfrm>
            <a:off x="7315200" y="3950208"/>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6.6.6.6</a:t>
            </a:r>
            <a:endParaRPr lang="en-US" sz="1100" dirty="0"/>
          </a:p>
        </p:txBody>
      </p:sp>
      <p:sp>
        <p:nvSpPr>
          <p:cNvPr id="47" name="Shape 45"/>
          <p:cNvSpPr/>
          <p:nvPr/>
        </p:nvSpPr>
        <p:spPr>
          <a:xfrm>
            <a:off x="5669280" y="4462272"/>
            <a:ext cx="3108960" cy="438912"/>
          </a:xfrm>
          <a:prstGeom prst="rect">
            <a:avLst/>
          </a:prstGeom>
          <a:solidFill>
            <a:srgbClr val="141E30"/>
          </a:solidFill>
          <a:ln w="6350">
            <a:solidFill>
              <a:srgbClr val="1E3A5F"/>
            </a:solidFill>
            <a:prstDash val="solid"/>
          </a:ln>
        </p:spPr>
      </p:sp>
      <p:sp>
        <p:nvSpPr>
          <p:cNvPr id="48" name="Text 46"/>
          <p:cNvSpPr/>
          <p:nvPr/>
        </p:nvSpPr>
        <p:spPr>
          <a:xfrm>
            <a:off x="5760720" y="4462272"/>
            <a:ext cx="1463040" cy="438912"/>
          </a:xfrm>
          <a:prstGeom prst="rect">
            <a:avLst/>
          </a:prstGeom>
          <a:noFill/>
          <a:ln/>
        </p:spPr>
        <p:txBody>
          <a:bodyPr wrap="square"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Protocol</a:t>
            </a:r>
            <a:endParaRPr lang="en-US" sz="1000" dirty="0"/>
          </a:p>
        </p:txBody>
      </p:sp>
      <p:sp>
        <p:nvSpPr>
          <p:cNvPr id="49" name="Text 47"/>
          <p:cNvSpPr/>
          <p:nvPr/>
        </p:nvSpPr>
        <p:spPr>
          <a:xfrm>
            <a:off x="7315200" y="4462272"/>
            <a:ext cx="1371600" cy="438912"/>
          </a:xfrm>
          <a:prstGeom prst="rect">
            <a:avLst/>
          </a:prstGeom>
          <a:noFill/>
          <a:ln/>
        </p:spPr>
        <p:txBody>
          <a:bodyPr wrap="square" rtlCol="0" anchor="ctr"/>
          <a:lstStyle/>
          <a:p>
            <a:pPr algn="r" indent="0" marL="0">
              <a:buNone/>
            </a:pPr>
            <a:r>
              <a:rPr lang="en-US" sz="1100" b="1" dirty="0">
                <a:solidFill>
                  <a:srgbClr val="00D4FF"/>
                </a:solidFill>
                <a:latin typeface="Consolas" pitchFamily="34" charset="0"/>
                <a:ea typeface="Consolas" pitchFamily="34" charset="-122"/>
                <a:cs typeface="Consolas" pitchFamily="34" charset="-120"/>
              </a:rPr>
              <a:t>UDP/53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22C55E"/>
          </a:solidFill>
          <a:ln w="12700">
            <a:solidFill>
              <a:srgbClr val="22C55E"/>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22C55E"/>
                </a:solidFill>
                <a:latin typeface="Consolas" pitchFamily="34" charset="0"/>
                <a:ea typeface="Consolas" pitchFamily="34" charset="-122"/>
                <a:cs typeface="Consolas" pitchFamily="34" charset="-120"/>
              </a:rPr>
              <a:t>06</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Implementing the Hardened Server (10.0.0.6)</a:t>
            </a:r>
            <a:endParaRPr lang="en-US" sz="2100" dirty="0"/>
          </a:p>
        </p:txBody>
      </p:sp>
      <p:sp>
        <p:nvSpPr>
          <p:cNvPr id="6" name="Shape 4"/>
          <p:cNvSpPr/>
          <p:nvPr/>
        </p:nvSpPr>
        <p:spPr>
          <a:xfrm>
            <a:off x="365760" y="868680"/>
            <a:ext cx="8412480" cy="1325880"/>
          </a:xfrm>
          <a:prstGeom prst="rect">
            <a:avLst/>
          </a:prstGeom>
          <a:solidFill>
            <a:srgbClr val="1A2235"/>
          </a:solidFill>
          <a:ln w="10160">
            <a:solidFill>
              <a:srgbClr val="22C55E"/>
            </a:solidFill>
            <a:prstDash val="solid"/>
          </a:ln>
        </p:spPr>
      </p:sp>
      <p:sp>
        <p:nvSpPr>
          <p:cNvPr id="7" name="Shape 5"/>
          <p:cNvSpPr/>
          <p:nvPr/>
        </p:nvSpPr>
        <p:spPr>
          <a:xfrm>
            <a:off x="365760" y="868680"/>
            <a:ext cx="64008" cy="1325880"/>
          </a:xfrm>
          <a:prstGeom prst="rect">
            <a:avLst/>
          </a:prstGeom>
          <a:solidFill>
            <a:srgbClr val="22C55E"/>
          </a:solidFill>
          <a:ln w="12700">
            <a:solidFill>
              <a:srgbClr val="22C55E"/>
            </a:solidFill>
            <a:prstDash val="solid"/>
          </a:ln>
        </p:spPr>
      </p:sp>
      <p:sp>
        <p:nvSpPr>
          <p:cNvPr id="8" name="Text 6"/>
          <p:cNvSpPr/>
          <p:nvPr/>
        </p:nvSpPr>
        <p:spPr>
          <a:xfrm>
            <a:off x="566928" y="941832"/>
            <a:ext cx="7955280" cy="27432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FIX 1 — Source Port Randomization</a:t>
            </a:r>
            <a:endParaRPr lang="en-US" sz="1300" dirty="0"/>
          </a:p>
        </p:txBody>
      </p:sp>
      <p:sp>
        <p:nvSpPr>
          <p:cNvPr id="9" name="Shape 7"/>
          <p:cNvSpPr/>
          <p:nvPr/>
        </p:nvSpPr>
        <p:spPr>
          <a:xfrm>
            <a:off x="566928" y="1252728"/>
            <a:ext cx="7772400" cy="347472"/>
          </a:xfrm>
          <a:prstGeom prst="rect">
            <a:avLst/>
          </a:prstGeom>
          <a:solidFill>
            <a:srgbClr val="0A0E1A"/>
          </a:solidFill>
          <a:ln w="12700">
            <a:solidFill>
              <a:srgbClr val="1E3A5F"/>
            </a:solidFill>
            <a:prstDash val="solid"/>
          </a:ln>
        </p:spPr>
      </p:sp>
      <p:sp>
        <p:nvSpPr>
          <p:cNvPr id="10" name="Text 8"/>
          <p:cNvSpPr/>
          <p:nvPr/>
        </p:nvSpPr>
        <p:spPr>
          <a:xfrm>
            <a:off x="566928" y="1252728"/>
            <a:ext cx="7772400" cy="347472"/>
          </a:xfrm>
          <a:prstGeom prst="rect">
            <a:avLst/>
          </a:prstGeom>
          <a:noFill/>
          <a:ln/>
        </p:spPr>
        <p:txBody>
          <a:bodyPr wrap="square" lIns="0" tIns="0" rIns="1524" bIns="0" rtlCol="0" anchor="ctr"/>
          <a:lstStyle/>
          <a:p>
            <a:pPr indent="0" marL="0">
              <a:buNone/>
            </a:pPr>
            <a:r>
              <a:rPr lang="en-US" sz="1150" dirty="0">
                <a:solidFill>
                  <a:srgbClr val="00D4FF"/>
                </a:solidFill>
                <a:latin typeface="Consolas" pitchFamily="34" charset="0"/>
                <a:ea typeface="Consolas" pitchFamily="34" charset="-122"/>
                <a:cs typeface="Consolas" pitchFamily="34" charset="-120"/>
              </a:rPr>
              <a:t>sock.bind(("", 0))   # OS assigns random ephemeral port</a:t>
            </a:r>
            <a:endParaRPr lang="en-US" sz="1150" dirty="0"/>
          </a:p>
        </p:txBody>
      </p:sp>
      <p:sp>
        <p:nvSpPr>
          <p:cNvPr id="11" name="Text 9"/>
          <p:cNvSpPr/>
          <p:nvPr/>
        </p:nvSpPr>
        <p:spPr>
          <a:xfrm>
            <a:off x="566928" y="1664208"/>
            <a:ext cx="7772400" cy="4572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Forces the OS kernel to assign a random port in the range 32768–60999 for every outgoing query. The attacker no longer knows which port to target.</a:t>
            </a:r>
            <a:endParaRPr lang="en-US" sz="1100" dirty="0"/>
          </a:p>
        </p:txBody>
      </p:sp>
      <p:sp>
        <p:nvSpPr>
          <p:cNvPr id="12" name="Shape 10"/>
          <p:cNvSpPr/>
          <p:nvPr/>
        </p:nvSpPr>
        <p:spPr>
          <a:xfrm>
            <a:off x="365760" y="2331720"/>
            <a:ext cx="8412480" cy="1325880"/>
          </a:xfrm>
          <a:prstGeom prst="rect">
            <a:avLst/>
          </a:prstGeom>
          <a:solidFill>
            <a:srgbClr val="1A2235"/>
          </a:solidFill>
          <a:ln w="10160">
            <a:solidFill>
              <a:srgbClr val="00D4FF"/>
            </a:solidFill>
            <a:prstDash val="solid"/>
          </a:ln>
        </p:spPr>
      </p:sp>
      <p:sp>
        <p:nvSpPr>
          <p:cNvPr id="13" name="Shape 11"/>
          <p:cNvSpPr/>
          <p:nvPr/>
        </p:nvSpPr>
        <p:spPr>
          <a:xfrm>
            <a:off x="365760" y="2331720"/>
            <a:ext cx="64008" cy="1325880"/>
          </a:xfrm>
          <a:prstGeom prst="rect">
            <a:avLst/>
          </a:prstGeom>
          <a:solidFill>
            <a:srgbClr val="00D4FF"/>
          </a:solidFill>
          <a:ln w="12700">
            <a:solidFill>
              <a:srgbClr val="00D4FF"/>
            </a:solidFill>
            <a:prstDash val="solid"/>
          </a:ln>
        </p:spPr>
      </p:sp>
      <p:sp>
        <p:nvSpPr>
          <p:cNvPr id="14" name="Text 12"/>
          <p:cNvSpPr/>
          <p:nvPr/>
        </p:nvSpPr>
        <p:spPr>
          <a:xfrm>
            <a:off x="566928" y="2404872"/>
            <a:ext cx="7955280" cy="274320"/>
          </a:xfrm>
          <a:prstGeom prst="rect">
            <a:avLst/>
          </a:prstGeom>
          <a:noFill/>
          <a:ln/>
        </p:spPr>
        <p:txBody>
          <a:bodyPr wrap="square"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FIX 2 — Full TX-ID Entropy (CSPRNG)</a:t>
            </a:r>
            <a:endParaRPr lang="en-US" sz="1300" dirty="0"/>
          </a:p>
        </p:txBody>
      </p:sp>
      <p:sp>
        <p:nvSpPr>
          <p:cNvPr id="15" name="Shape 13"/>
          <p:cNvSpPr/>
          <p:nvPr/>
        </p:nvSpPr>
        <p:spPr>
          <a:xfrm>
            <a:off x="566928" y="2715768"/>
            <a:ext cx="7772400" cy="347472"/>
          </a:xfrm>
          <a:prstGeom prst="rect">
            <a:avLst/>
          </a:prstGeom>
          <a:solidFill>
            <a:srgbClr val="0A0E1A"/>
          </a:solidFill>
          <a:ln w="12700">
            <a:solidFill>
              <a:srgbClr val="1E3A5F"/>
            </a:solidFill>
            <a:prstDash val="solid"/>
          </a:ln>
        </p:spPr>
      </p:sp>
      <p:sp>
        <p:nvSpPr>
          <p:cNvPr id="16" name="Text 14"/>
          <p:cNvSpPr/>
          <p:nvPr/>
        </p:nvSpPr>
        <p:spPr>
          <a:xfrm>
            <a:off x="566928" y="2715768"/>
            <a:ext cx="7772400" cy="347472"/>
          </a:xfrm>
          <a:prstGeom prst="rect">
            <a:avLst/>
          </a:prstGeom>
          <a:noFill/>
          <a:ln/>
        </p:spPr>
        <p:txBody>
          <a:bodyPr wrap="square" lIns="0" tIns="0" rIns="1524" bIns="0" rtlCol="0" anchor="ctr"/>
          <a:lstStyle/>
          <a:p>
            <a:pPr indent="0" marL="0">
              <a:buNone/>
            </a:pPr>
            <a:r>
              <a:rPr lang="en-US" sz="1150" dirty="0">
                <a:solidFill>
                  <a:srgbClr val="00D4FF"/>
                </a:solidFill>
                <a:latin typeface="Consolas" pitchFamily="34" charset="0"/>
                <a:ea typeface="Consolas" pitchFamily="34" charset="-122"/>
                <a:cs typeface="Consolas" pitchFamily="34" charset="-120"/>
              </a:rPr>
              <a:t>qid = secrets.randbelow(65536)   # 0–65535</a:t>
            </a:r>
            <a:endParaRPr lang="en-US" sz="1150" dirty="0"/>
          </a:p>
        </p:txBody>
      </p:sp>
      <p:sp>
        <p:nvSpPr>
          <p:cNvPr id="17" name="Text 15"/>
          <p:cNvSpPr/>
          <p:nvPr/>
        </p:nvSpPr>
        <p:spPr>
          <a:xfrm>
            <a:off x="566928" y="3127248"/>
            <a:ext cx="7772400" cy="4572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Uses Python's cryptographically secure PRNG for the full 16-bit Transaction ID space — 65,536 possible values instead of 50.</a:t>
            </a:r>
            <a:endParaRPr lang="en-US" sz="1100" dirty="0"/>
          </a:p>
        </p:txBody>
      </p:sp>
      <p:sp>
        <p:nvSpPr>
          <p:cNvPr id="18" name="Shape 16"/>
          <p:cNvSpPr/>
          <p:nvPr/>
        </p:nvSpPr>
        <p:spPr>
          <a:xfrm>
            <a:off x="365760" y="3794760"/>
            <a:ext cx="8412480" cy="1325880"/>
          </a:xfrm>
          <a:prstGeom prst="rect">
            <a:avLst/>
          </a:prstGeom>
          <a:solidFill>
            <a:srgbClr val="1A2235"/>
          </a:solidFill>
          <a:ln w="10160">
            <a:solidFill>
              <a:srgbClr val="FBBF24"/>
            </a:solidFill>
            <a:prstDash val="solid"/>
          </a:ln>
        </p:spPr>
      </p:sp>
      <p:sp>
        <p:nvSpPr>
          <p:cNvPr id="19" name="Shape 17"/>
          <p:cNvSpPr/>
          <p:nvPr/>
        </p:nvSpPr>
        <p:spPr>
          <a:xfrm>
            <a:off x="365760" y="3794760"/>
            <a:ext cx="64008" cy="1325880"/>
          </a:xfrm>
          <a:prstGeom prst="rect">
            <a:avLst/>
          </a:prstGeom>
          <a:solidFill>
            <a:srgbClr val="FBBF24"/>
          </a:solidFill>
          <a:ln w="12700">
            <a:solidFill>
              <a:srgbClr val="FBBF24"/>
            </a:solidFill>
            <a:prstDash val="solid"/>
          </a:ln>
        </p:spPr>
      </p:sp>
      <p:sp>
        <p:nvSpPr>
          <p:cNvPr id="20" name="Text 18"/>
          <p:cNvSpPr/>
          <p:nvPr/>
        </p:nvSpPr>
        <p:spPr>
          <a:xfrm>
            <a:off x="566928" y="3867912"/>
            <a:ext cx="7955280" cy="274320"/>
          </a:xfrm>
          <a:prstGeom prst="rect">
            <a:avLst/>
          </a:prstGeom>
          <a:noFill/>
          <a:ln/>
        </p:spPr>
        <p:txBody>
          <a:bodyPr wrap="square"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FIX 3 — Strict Response Validation</a:t>
            </a:r>
            <a:endParaRPr lang="en-US" sz="1300" dirty="0"/>
          </a:p>
        </p:txBody>
      </p:sp>
      <p:sp>
        <p:nvSpPr>
          <p:cNvPr id="21" name="Shape 19"/>
          <p:cNvSpPr/>
          <p:nvPr/>
        </p:nvSpPr>
        <p:spPr>
          <a:xfrm>
            <a:off x="566928" y="4178808"/>
            <a:ext cx="7772400" cy="347472"/>
          </a:xfrm>
          <a:prstGeom prst="rect">
            <a:avLst/>
          </a:prstGeom>
          <a:solidFill>
            <a:srgbClr val="0A0E1A"/>
          </a:solidFill>
          <a:ln w="12700">
            <a:solidFill>
              <a:srgbClr val="1E3A5F"/>
            </a:solidFill>
            <a:prstDash val="solid"/>
          </a:ln>
        </p:spPr>
      </p:sp>
      <p:sp>
        <p:nvSpPr>
          <p:cNvPr id="22" name="Text 20"/>
          <p:cNvSpPr/>
          <p:nvPr/>
        </p:nvSpPr>
        <p:spPr>
          <a:xfrm>
            <a:off x="566928" y="4178808"/>
            <a:ext cx="7772400" cy="347472"/>
          </a:xfrm>
          <a:prstGeom prst="rect">
            <a:avLst/>
          </a:prstGeom>
          <a:noFill/>
          <a:ln/>
        </p:spPr>
        <p:txBody>
          <a:bodyPr wrap="square" lIns="0" tIns="0" rIns="1524" bIns="0" rtlCol="0" anchor="ctr"/>
          <a:lstStyle/>
          <a:p>
            <a:pPr indent="0" marL="0">
              <a:buNone/>
            </a:pPr>
            <a:r>
              <a:rPr lang="en-US" sz="1150" dirty="0">
                <a:solidFill>
                  <a:srgbClr val="00D4FF"/>
                </a:solidFill>
                <a:latin typeface="Consolas" pitchFamily="34" charset="0"/>
                <a:ea typeface="Consolas" pitchFamily="34" charset="-122"/>
                <a:cs typeface="Consolas" pitchFamily="34" charset="-120"/>
              </a:rPr>
              <a:t>assert resp.src_ip == '10.0.0.5' and resp.txid == expected_id</a:t>
            </a:r>
            <a:endParaRPr lang="en-US" sz="1150" dirty="0"/>
          </a:p>
        </p:txBody>
      </p:sp>
      <p:sp>
        <p:nvSpPr>
          <p:cNvPr id="23" name="Text 21"/>
          <p:cNvSpPr/>
          <p:nvPr/>
        </p:nvSpPr>
        <p:spPr>
          <a:xfrm>
            <a:off x="566928" y="4590288"/>
            <a:ext cx="7772400" cy="4572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Both Transaction ID and upstream source IP must match exactly before any response is accepted into the cache.</a:t>
            </a:r>
            <a:endParaRPr lang="en-US" sz="1100" dirty="0"/>
          </a:p>
        </p:txBody>
      </p:sp>
      <p:sp>
        <p:nvSpPr>
          <p:cNvPr id="24" name="Shape 22"/>
          <p:cNvSpPr/>
          <p:nvPr/>
        </p:nvSpPr>
        <p:spPr>
          <a:xfrm>
            <a:off x="365760" y="5184648"/>
            <a:ext cx="8412480" cy="0"/>
          </a:xfrm>
          <a:prstGeom prst="rect">
            <a:avLst/>
          </a:prstGeom>
          <a:solidFill>
            <a:srgbClr val="22C55E"/>
          </a:solidFill>
          <a:ln w="12700">
            <a:solidFill>
              <a:srgbClr val="22C55E"/>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07</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Analyzing the Attacker's Challenge — The Math</a:t>
            </a:r>
            <a:endParaRPr lang="en-US" sz="2100" dirty="0"/>
          </a:p>
        </p:txBody>
      </p:sp>
      <p:sp>
        <p:nvSpPr>
          <p:cNvPr id="6" name="Shape 4"/>
          <p:cNvSpPr/>
          <p:nvPr/>
        </p:nvSpPr>
        <p:spPr>
          <a:xfrm>
            <a:off x="365760" y="868680"/>
            <a:ext cx="3931920" cy="3017520"/>
          </a:xfrm>
          <a:prstGeom prst="rect">
            <a:avLst/>
          </a:prstGeom>
          <a:solidFill>
            <a:srgbClr val="1A0505"/>
          </a:solidFill>
          <a:ln w="19050">
            <a:solidFill>
              <a:srgbClr val="FF4444"/>
            </a:solidFill>
            <a:prstDash val="solid"/>
          </a:ln>
        </p:spPr>
      </p:sp>
      <p:sp>
        <p:nvSpPr>
          <p:cNvPr id="7" name="Shape 5"/>
          <p:cNvSpPr/>
          <p:nvPr/>
        </p:nvSpPr>
        <p:spPr>
          <a:xfrm>
            <a:off x="365760" y="868680"/>
            <a:ext cx="3931920" cy="457200"/>
          </a:xfrm>
          <a:prstGeom prst="rect">
            <a:avLst/>
          </a:prstGeom>
          <a:solidFill>
            <a:srgbClr val="FF4444">
              <a:alpha val="40000"/>
            </a:srgbClr>
          </a:solidFill>
          <a:ln w="12700">
            <a:solidFill>
              <a:srgbClr val="FF4444"/>
            </a:solidFill>
            <a:prstDash val="solid"/>
          </a:ln>
        </p:spPr>
      </p:sp>
      <p:sp>
        <p:nvSpPr>
          <p:cNvPr id="8" name="Text 6"/>
          <p:cNvSpPr/>
          <p:nvPr/>
        </p:nvSpPr>
        <p:spPr>
          <a:xfrm>
            <a:off x="365760" y="868680"/>
            <a:ext cx="3931920" cy="457200"/>
          </a:xfrm>
          <a:prstGeom prst="rect">
            <a:avLst/>
          </a:prstGeom>
          <a:noFill/>
          <a:ln/>
        </p:spPr>
        <p:txBody>
          <a:bodyPr wrap="square"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VULNERABLE</a:t>
            </a:r>
            <a:endParaRPr lang="en-US" sz="1400" dirty="0"/>
          </a:p>
        </p:txBody>
      </p:sp>
      <p:sp>
        <p:nvSpPr>
          <p:cNvPr id="9" name="Text 7"/>
          <p:cNvSpPr/>
          <p:nvPr/>
        </p:nvSpPr>
        <p:spPr>
          <a:xfrm>
            <a:off x="365760" y="1417320"/>
            <a:ext cx="3931920" cy="1097280"/>
          </a:xfrm>
          <a:prstGeom prst="rect">
            <a:avLst/>
          </a:prstGeom>
          <a:noFill/>
          <a:ln/>
        </p:spPr>
        <p:txBody>
          <a:bodyPr wrap="square" rtlCol="0" anchor="ctr"/>
          <a:lstStyle/>
          <a:p>
            <a:pPr algn="ctr" indent="0" marL="0">
              <a:buNone/>
            </a:pPr>
            <a:r>
              <a:rPr lang="en-US" sz="2000" b="1" dirty="0">
                <a:solidFill>
                  <a:srgbClr val="E2E8F0"/>
                </a:solidFill>
                <a:latin typeface="Consolas" pitchFamily="34" charset="0"/>
                <a:ea typeface="Consolas" pitchFamily="34" charset="-122"/>
                <a:cs typeface="Consolas" pitchFamily="34" charset="-120"/>
              </a:rPr>
              <a:t>1 Port</a:t>
            </a:r>
            <a:endParaRPr lang="en-US" sz="2000" dirty="0"/>
          </a:p>
          <a:p>
            <a:pPr algn="ctr" indent="0" marL="0">
              <a:buNone/>
            </a:pPr>
            <a:r>
              <a:rPr lang="en-US" sz="2000" b="1" dirty="0">
                <a:solidFill>
                  <a:srgbClr val="E2E8F0"/>
                </a:solidFill>
                <a:latin typeface="Consolas" pitchFamily="34" charset="0"/>
                <a:ea typeface="Consolas" pitchFamily="34" charset="-122"/>
                <a:cs typeface="Consolas" pitchFamily="34" charset="-120"/>
              </a:rPr>
              <a:t>×</a:t>
            </a:r>
            <a:endParaRPr lang="en-US" sz="2000" dirty="0"/>
          </a:p>
          <a:p>
            <a:pPr algn="ctr" indent="0" marL="0">
              <a:buNone/>
            </a:pPr>
            <a:r>
              <a:rPr lang="en-US" sz="2000" b="1" dirty="0">
                <a:solidFill>
                  <a:srgbClr val="E2E8F0"/>
                </a:solidFill>
                <a:latin typeface="Consolas" pitchFamily="34" charset="0"/>
                <a:ea typeface="Consolas" pitchFamily="34" charset="-122"/>
                <a:cs typeface="Consolas" pitchFamily="34" charset="-120"/>
              </a:rPr>
              <a:t>50 TXIDs</a:t>
            </a:r>
            <a:endParaRPr lang="en-US" sz="2000" dirty="0"/>
          </a:p>
        </p:txBody>
      </p:sp>
      <p:sp>
        <p:nvSpPr>
          <p:cNvPr id="10" name="Shape 8"/>
          <p:cNvSpPr/>
          <p:nvPr/>
        </p:nvSpPr>
        <p:spPr>
          <a:xfrm>
            <a:off x="365760" y="2560320"/>
            <a:ext cx="3931920" cy="27432"/>
          </a:xfrm>
          <a:prstGeom prst="rect">
            <a:avLst/>
          </a:prstGeom>
          <a:solidFill>
            <a:srgbClr val="FF4444">
              <a:alpha val="60000"/>
            </a:srgbClr>
          </a:solidFill>
          <a:ln w="12700">
            <a:solidFill>
              <a:srgbClr val="FF4444">
                <a:alpha val="60000"/>
              </a:srgbClr>
            </a:solidFill>
            <a:prstDash val="solid"/>
          </a:ln>
        </p:spPr>
      </p:sp>
      <p:sp>
        <p:nvSpPr>
          <p:cNvPr id="11" name="Text 9"/>
          <p:cNvSpPr/>
          <p:nvPr/>
        </p:nvSpPr>
        <p:spPr>
          <a:xfrm>
            <a:off x="365760" y="2624328"/>
            <a:ext cx="3931920" cy="548640"/>
          </a:xfrm>
          <a:prstGeom prst="rect">
            <a:avLst/>
          </a:prstGeom>
          <a:noFill/>
          <a:ln/>
        </p:spPr>
        <p:txBody>
          <a:bodyPr wrap="square" rtlCol="0" anchor="ctr"/>
          <a:lstStyle/>
          <a:p>
            <a:pPr algn="ctr" indent="0" marL="0">
              <a:buNone/>
            </a:pPr>
            <a:r>
              <a:rPr lang="en-US" sz="3000" b="1" dirty="0">
                <a:solidFill>
                  <a:srgbClr val="FF4444"/>
                </a:solidFill>
                <a:latin typeface="Consolas" pitchFamily="34" charset="0"/>
                <a:ea typeface="Consolas" pitchFamily="34" charset="-122"/>
                <a:cs typeface="Consolas" pitchFamily="34" charset="-120"/>
              </a:rPr>
              <a:t>50 packets</a:t>
            </a:r>
            <a:endParaRPr lang="en-US" sz="3000" dirty="0"/>
          </a:p>
        </p:txBody>
      </p:sp>
      <p:sp>
        <p:nvSpPr>
          <p:cNvPr id="12" name="Text 10"/>
          <p:cNvSpPr/>
          <p:nvPr/>
        </p:nvSpPr>
        <p:spPr>
          <a:xfrm>
            <a:off x="365760" y="3246120"/>
            <a:ext cx="3931920" cy="502920"/>
          </a:xfrm>
          <a:prstGeom prst="rect">
            <a:avLst/>
          </a:prstGeom>
          <a:noFill/>
          <a:ln/>
        </p:spPr>
        <p:txBody>
          <a:bodyPr wrap="square" rtlCol="0" anchor="ctr"/>
          <a:lstStyle/>
          <a:p>
            <a:pPr algn="ctr" indent="0" marL="0">
              <a:buNone/>
            </a:pPr>
            <a:r>
              <a:rPr lang="en-US" sz="1200" i="1" dirty="0">
                <a:solidFill>
                  <a:srgbClr val="FF4444"/>
                </a:solidFill>
                <a:latin typeface="Calibri" pitchFamily="34" charset="0"/>
                <a:ea typeface="Calibri" pitchFamily="34" charset="-122"/>
                <a:cs typeface="Calibri" pitchFamily="34" charset="-120"/>
              </a:rPr>
              <a:t>Instant Poisoning  ⚡</a:t>
            </a:r>
            <a:endParaRPr lang="en-US" sz="1200" dirty="0"/>
          </a:p>
        </p:txBody>
      </p:sp>
      <p:sp>
        <p:nvSpPr>
          <p:cNvPr id="13" name="Text 11"/>
          <p:cNvSpPr/>
          <p:nvPr/>
        </p:nvSpPr>
        <p:spPr>
          <a:xfrm>
            <a:off x="4297680" y="1920240"/>
            <a:ext cx="548640" cy="457200"/>
          </a:xfrm>
          <a:prstGeom prst="rect">
            <a:avLst/>
          </a:prstGeom>
          <a:noFill/>
          <a:ln/>
        </p:spPr>
        <p:txBody>
          <a:bodyPr wrap="square" rtlCol="0" anchor="ctr"/>
          <a:lstStyle/>
          <a:p>
            <a:pPr algn="ctr" indent="0" marL="0">
              <a:buNone/>
            </a:pPr>
            <a:r>
              <a:rPr lang="en-US" sz="1400" b="1" dirty="0">
                <a:solidFill>
                  <a:srgbClr val="94A3B8"/>
                </a:solidFill>
                <a:latin typeface="Consolas" pitchFamily="34" charset="0"/>
                <a:ea typeface="Consolas" pitchFamily="34" charset="-122"/>
                <a:cs typeface="Consolas" pitchFamily="34" charset="-120"/>
              </a:rPr>
              <a:t>VS</a:t>
            </a:r>
            <a:endParaRPr lang="en-US" sz="1400" dirty="0"/>
          </a:p>
        </p:txBody>
      </p:sp>
      <p:sp>
        <p:nvSpPr>
          <p:cNvPr id="14" name="Shape 12"/>
          <p:cNvSpPr/>
          <p:nvPr/>
        </p:nvSpPr>
        <p:spPr>
          <a:xfrm>
            <a:off x="4846320" y="868680"/>
            <a:ext cx="3931920" cy="3017520"/>
          </a:xfrm>
          <a:prstGeom prst="rect">
            <a:avLst/>
          </a:prstGeom>
          <a:solidFill>
            <a:srgbClr val="051A0D"/>
          </a:solidFill>
          <a:ln w="19050">
            <a:solidFill>
              <a:srgbClr val="22C55E"/>
            </a:solidFill>
            <a:prstDash val="solid"/>
          </a:ln>
        </p:spPr>
      </p:sp>
      <p:sp>
        <p:nvSpPr>
          <p:cNvPr id="15" name="Shape 13"/>
          <p:cNvSpPr/>
          <p:nvPr/>
        </p:nvSpPr>
        <p:spPr>
          <a:xfrm>
            <a:off x="4846320" y="868680"/>
            <a:ext cx="3931920" cy="457200"/>
          </a:xfrm>
          <a:prstGeom prst="rect">
            <a:avLst/>
          </a:prstGeom>
          <a:solidFill>
            <a:srgbClr val="22C55E">
              <a:alpha val="40000"/>
            </a:srgbClr>
          </a:solidFill>
          <a:ln w="12700">
            <a:solidFill>
              <a:srgbClr val="22C55E"/>
            </a:solidFill>
            <a:prstDash val="solid"/>
          </a:ln>
        </p:spPr>
      </p:sp>
      <p:sp>
        <p:nvSpPr>
          <p:cNvPr id="16" name="Text 14"/>
          <p:cNvSpPr/>
          <p:nvPr/>
        </p:nvSpPr>
        <p:spPr>
          <a:xfrm>
            <a:off x="4846320" y="868680"/>
            <a:ext cx="3931920" cy="457200"/>
          </a:xfrm>
          <a:prstGeom prst="rect">
            <a:avLst/>
          </a:prstGeom>
          <a:noFill/>
          <a:ln/>
        </p:spPr>
        <p:txBody>
          <a:bodyPr wrap="square"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HARDENED</a:t>
            </a:r>
            <a:endParaRPr lang="en-US" sz="1400" dirty="0"/>
          </a:p>
        </p:txBody>
      </p:sp>
      <p:sp>
        <p:nvSpPr>
          <p:cNvPr id="17" name="Text 15"/>
          <p:cNvSpPr/>
          <p:nvPr/>
        </p:nvSpPr>
        <p:spPr>
          <a:xfrm>
            <a:off x="4846320" y="1417320"/>
            <a:ext cx="3931920" cy="1097280"/>
          </a:xfrm>
          <a:prstGeom prst="rect">
            <a:avLst/>
          </a:prstGeom>
          <a:noFill/>
          <a:ln/>
        </p:spPr>
        <p:txBody>
          <a:bodyPr wrap="square" rtlCol="0" anchor="ctr"/>
          <a:lstStyle/>
          <a:p>
            <a:pPr algn="ctr" indent="0" marL="0">
              <a:buNone/>
            </a:pPr>
            <a:r>
              <a:rPr lang="en-US" sz="1600" b="1" dirty="0">
                <a:solidFill>
                  <a:srgbClr val="E2E8F0"/>
                </a:solidFill>
                <a:latin typeface="Consolas" pitchFamily="34" charset="0"/>
                <a:ea typeface="Consolas" pitchFamily="34" charset="-122"/>
                <a:cs typeface="Consolas" pitchFamily="34" charset="-120"/>
              </a:rPr>
              <a:t>~28,232 Ports</a:t>
            </a:r>
            <a:endParaRPr lang="en-US" sz="1600" dirty="0"/>
          </a:p>
          <a:p>
            <a:pPr algn="ctr" indent="0" marL="0">
              <a:buNone/>
            </a:pPr>
            <a:r>
              <a:rPr lang="en-US" sz="1600" b="1" dirty="0">
                <a:solidFill>
                  <a:srgbClr val="E2E8F0"/>
                </a:solidFill>
                <a:latin typeface="Consolas" pitchFamily="34" charset="0"/>
                <a:ea typeface="Consolas" pitchFamily="34" charset="-122"/>
                <a:cs typeface="Consolas" pitchFamily="34" charset="-120"/>
              </a:rPr>
              <a:t>×</a:t>
            </a:r>
            <a:endParaRPr lang="en-US" sz="1600" dirty="0"/>
          </a:p>
          <a:p>
            <a:pPr algn="ctr" indent="0" marL="0">
              <a:buNone/>
            </a:pPr>
            <a:r>
              <a:rPr lang="en-US" sz="1600" b="1" dirty="0">
                <a:solidFill>
                  <a:srgbClr val="E2E8F0"/>
                </a:solidFill>
                <a:latin typeface="Consolas" pitchFamily="34" charset="0"/>
                <a:ea typeface="Consolas" pitchFamily="34" charset="-122"/>
                <a:cs typeface="Consolas" pitchFamily="34" charset="-120"/>
              </a:rPr>
              <a:t>65,536 TXIDs</a:t>
            </a:r>
            <a:endParaRPr lang="en-US" sz="1600" dirty="0"/>
          </a:p>
        </p:txBody>
      </p:sp>
      <p:sp>
        <p:nvSpPr>
          <p:cNvPr id="18" name="Shape 16"/>
          <p:cNvSpPr/>
          <p:nvPr/>
        </p:nvSpPr>
        <p:spPr>
          <a:xfrm>
            <a:off x="4846320" y="2560320"/>
            <a:ext cx="3931920" cy="27432"/>
          </a:xfrm>
          <a:prstGeom prst="rect">
            <a:avLst/>
          </a:prstGeom>
          <a:solidFill>
            <a:srgbClr val="22C55E">
              <a:alpha val="60000"/>
            </a:srgbClr>
          </a:solidFill>
          <a:ln w="12700">
            <a:solidFill>
              <a:srgbClr val="22C55E">
                <a:alpha val="60000"/>
              </a:srgbClr>
            </a:solidFill>
            <a:prstDash val="solid"/>
          </a:ln>
        </p:spPr>
      </p:sp>
      <p:sp>
        <p:nvSpPr>
          <p:cNvPr id="19" name="Text 17"/>
          <p:cNvSpPr/>
          <p:nvPr/>
        </p:nvSpPr>
        <p:spPr>
          <a:xfrm>
            <a:off x="4846320" y="2624328"/>
            <a:ext cx="3931920" cy="548640"/>
          </a:xfrm>
          <a:prstGeom prst="rect">
            <a:avLst/>
          </a:prstGeom>
          <a:noFill/>
          <a:ln/>
        </p:spPr>
        <p:txBody>
          <a:bodyPr wrap="square" rtlCol="0" anchor="ctr"/>
          <a:lstStyle/>
          <a:p>
            <a:pPr algn="ctr" indent="0" marL="0">
              <a:buNone/>
            </a:pPr>
            <a:r>
              <a:rPr lang="en-US" sz="2400" b="1" dirty="0">
                <a:solidFill>
                  <a:srgbClr val="22C55E"/>
                </a:solidFill>
                <a:latin typeface="Consolas" pitchFamily="34" charset="0"/>
                <a:ea typeface="Consolas" pitchFamily="34" charset="-122"/>
                <a:cs typeface="Consolas" pitchFamily="34" charset="-120"/>
              </a:rPr>
              <a:t>~1.85 Billion</a:t>
            </a:r>
            <a:endParaRPr lang="en-US" sz="2400" dirty="0"/>
          </a:p>
        </p:txBody>
      </p:sp>
      <p:sp>
        <p:nvSpPr>
          <p:cNvPr id="20" name="Text 18"/>
          <p:cNvSpPr/>
          <p:nvPr/>
        </p:nvSpPr>
        <p:spPr>
          <a:xfrm>
            <a:off x="4846320" y="3246120"/>
            <a:ext cx="3931920" cy="502920"/>
          </a:xfrm>
          <a:prstGeom prst="rect">
            <a:avLst/>
          </a:prstGeom>
          <a:noFill/>
          <a:ln/>
        </p:spPr>
        <p:txBody>
          <a:bodyPr wrap="square" rtlCol="0" anchor="ctr"/>
          <a:lstStyle/>
          <a:p>
            <a:pPr algn="ctr" indent="0" marL="0">
              <a:buNone/>
            </a:pPr>
            <a:r>
              <a:rPr lang="en-US" sz="1200" i="1" dirty="0">
                <a:solidFill>
                  <a:srgbClr val="22C55E"/>
                </a:solidFill>
                <a:latin typeface="Calibri" pitchFamily="34" charset="0"/>
                <a:ea typeface="Calibri" pitchFamily="34" charset="-122"/>
                <a:cs typeface="Calibri" pitchFamily="34" charset="-120"/>
              </a:rPr>
              <a:t>Practically Impossible  🛡</a:t>
            </a:r>
            <a:endParaRPr lang="en-US" sz="1200" dirty="0"/>
          </a:p>
        </p:txBody>
      </p:sp>
      <p:sp>
        <p:nvSpPr>
          <p:cNvPr id="21" name="Shape 19"/>
          <p:cNvSpPr/>
          <p:nvPr/>
        </p:nvSpPr>
        <p:spPr>
          <a:xfrm>
            <a:off x="365760" y="4069080"/>
            <a:ext cx="8412480" cy="822960"/>
          </a:xfrm>
          <a:prstGeom prst="rect">
            <a:avLst/>
          </a:prstGeom>
          <a:solidFill>
            <a:srgbClr val="1A2235"/>
          </a:solidFill>
          <a:ln w="12700">
            <a:solidFill>
              <a:srgbClr val="1E3A5F"/>
            </a:solidFill>
            <a:prstDash val="solid"/>
          </a:ln>
        </p:spPr>
      </p:sp>
      <p:sp>
        <p:nvSpPr>
          <p:cNvPr id="22" name="Text 20"/>
          <p:cNvSpPr/>
          <p:nvPr/>
        </p:nvSpPr>
        <p:spPr>
          <a:xfrm>
            <a:off x="502920" y="4069080"/>
            <a:ext cx="8138160" cy="822960"/>
          </a:xfrm>
          <a:prstGeom prst="rect">
            <a:avLst/>
          </a:prstGeom>
          <a:noFill/>
          <a:ln/>
        </p:spPr>
        <p:txBody>
          <a:bodyPr wrap="square" rtlCol="0" anchor="ctr"/>
          <a:lstStyle/>
          <a:p>
            <a:pPr indent="0" marL="0">
              <a:buNone/>
            </a:pPr>
            <a:r>
              <a:rPr lang="en-US" sz="1150" dirty="0">
                <a:solidFill>
                  <a:srgbClr val="E2E8F0"/>
                </a:solidFill>
                <a:latin typeface="Calibri" pitchFamily="34" charset="0"/>
                <a:ea typeface="Calibri" pitchFamily="34" charset="-122"/>
                <a:cs typeface="Calibri" pitchFamily="34" charset="-120"/>
              </a:rPr>
              <a:t>Reality Check: An attacker must send ~1.85 billion packets in the 5–10 ms window before the legitimate upstream reply arrives. On modern networks this is statistically impossible without triggering a DDoS against the resolver itself.</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9333EA"/>
          </a:solidFill>
          <a:ln w="12700">
            <a:solidFill>
              <a:srgbClr val="9333EA"/>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9333EA"/>
                </a:solidFill>
                <a:latin typeface="Consolas" pitchFamily="34" charset="0"/>
                <a:ea typeface="Consolas" pitchFamily="34" charset="-122"/>
                <a:cs typeface="Consolas" pitchFamily="34" charset="-120"/>
              </a:rPr>
              <a:t>08</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About a Botnet Flood?</a:t>
            </a:r>
            <a:endParaRPr lang="en-US" sz="2200" dirty="0"/>
          </a:p>
        </p:txBody>
      </p:sp>
      <p:sp>
        <p:nvSpPr>
          <p:cNvPr id="6" name="Text 4"/>
          <p:cNvSpPr/>
          <p:nvPr/>
        </p:nvSpPr>
        <p:spPr>
          <a:xfrm>
            <a:off x="365760" y="804672"/>
            <a:ext cx="8412480" cy="365760"/>
          </a:xfrm>
          <a:prstGeom prst="rect">
            <a:avLst/>
          </a:prstGeom>
          <a:noFill/>
          <a:ln/>
        </p:spPr>
        <p:txBody>
          <a:bodyPr wrap="square" rtlCol="0" anchor="ctr"/>
          <a:lstStyle/>
          <a:p>
            <a:pPr indent="0" marL="0">
              <a:buNone/>
            </a:pPr>
            <a:r>
              <a:rPr lang="en-US" sz="1350" i="1" dirty="0">
                <a:solidFill>
                  <a:srgbClr val="00D4FF"/>
                </a:solidFill>
                <a:latin typeface="Calibri" pitchFamily="34" charset="0"/>
                <a:ea typeface="Calibri" pitchFamily="34" charset="-122"/>
                <a:cs typeface="Calibri" pitchFamily="34" charset="-120"/>
              </a:rPr>
              <a:t>"Can't an attacker use a botnet to guess all 1.85 billion combinations?"</a:t>
            </a:r>
            <a:endParaRPr lang="en-US" sz="1350" dirty="0"/>
          </a:p>
        </p:txBody>
      </p:sp>
      <p:sp>
        <p:nvSpPr>
          <p:cNvPr id="7" name="Shape 5"/>
          <p:cNvSpPr/>
          <p:nvPr/>
        </p:nvSpPr>
        <p:spPr>
          <a:xfrm>
            <a:off x="365760" y="1261872"/>
            <a:ext cx="8412480" cy="1143000"/>
          </a:xfrm>
          <a:prstGeom prst="rect">
            <a:avLst/>
          </a:prstGeom>
          <a:solidFill>
            <a:srgbClr val="1A2235"/>
          </a:solidFill>
          <a:ln w="10160">
            <a:solidFill>
              <a:srgbClr val="FF4444"/>
            </a:solidFill>
            <a:prstDash val="solid"/>
          </a:ln>
        </p:spPr>
      </p:sp>
      <p:sp>
        <p:nvSpPr>
          <p:cNvPr id="8" name="Shape 6"/>
          <p:cNvSpPr/>
          <p:nvPr/>
        </p:nvSpPr>
        <p:spPr>
          <a:xfrm>
            <a:off x="365760" y="1261872"/>
            <a:ext cx="64008" cy="1143000"/>
          </a:xfrm>
          <a:prstGeom prst="rect">
            <a:avLst/>
          </a:prstGeom>
          <a:solidFill>
            <a:srgbClr val="FF4444"/>
          </a:solidFill>
          <a:ln w="12700">
            <a:solidFill>
              <a:srgbClr val="FF4444"/>
            </a:solidFill>
            <a:prstDash val="solid"/>
          </a:ln>
        </p:spPr>
      </p:sp>
      <p:sp>
        <p:nvSpPr>
          <p:cNvPr id="9" name="Shape 7"/>
          <p:cNvSpPr/>
          <p:nvPr/>
        </p:nvSpPr>
        <p:spPr>
          <a:xfrm>
            <a:off x="7315200" y="1399032"/>
            <a:ext cx="1371600" cy="777240"/>
          </a:xfrm>
          <a:prstGeom prst="rect">
            <a:avLst/>
          </a:prstGeom>
          <a:solidFill>
            <a:srgbClr val="FF4444">
              <a:alpha val="20000"/>
            </a:srgbClr>
          </a:solidFill>
          <a:ln w="12700">
            <a:solidFill>
              <a:srgbClr val="FF4444"/>
            </a:solidFill>
            <a:prstDash val="solid"/>
          </a:ln>
        </p:spPr>
      </p:sp>
      <p:sp>
        <p:nvSpPr>
          <p:cNvPr id="10" name="Text 8"/>
          <p:cNvSpPr/>
          <p:nvPr/>
        </p:nvSpPr>
        <p:spPr>
          <a:xfrm>
            <a:off x="7315200" y="1399032"/>
            <a:ext cx="1371600" cy="777240"/>
          </a:xfrm>
          <a:prstGeom prst="rect">
            <a:avLst/>
          </a:prstGeom>
          <a:noFill/>
          <a:ln/>
        </p:spPr>
        <p:txBody>
          <a:bodyPr wrap="square" rtlCol="0" anchor="ctr"/>
          <a:lstStyle/>
          <a:p>
            <a:pPr algn="ctr" indent="0" marL="0">
              <a:buNone/>
            </a:pPr>
            <a:r>
              <a:rPr lang="en-US" sz="1000" b="1" dirty="0">
                <a:solidFill>
                  <a:srgbClr val="FF4444"/>
                </a:solidFill>
                <a:latin typeface="Consolas" pitchFamily="34" charset="0"/>
                <a:ea typeface="Consolas" pitchFamily="34" charset="-122"/>
                <a:cs typeface="Consolas" pitchFamily="34" charset="-120"/>
              </a:rPr>
              <a:t>37,000 Gbps</a:t>
            </a:r>
            <a:endParaRPr lang="en-US" sz="1000" dirty="0"/>
          </a:p>
        </p:txBody>
      </p:sp>
      <p:sp>
        <p:nvSpPr>
          <p:cNvPr id="11" name="Text 9"/>
          <p:cNvSpPr/>
          <p:nvPr/>
        </p:nvSpPr>
        <p:spPr>
          <a:xfrm>
            <a:off x="566928" y="1353312"/>
            <a:ext cx="6583680" cy="274320"/>
          </a:xfrm>
          <a:prstGeom prst="rect">
            <a:avLst/>
          </a:prstGeom>
          <a:noFill/>
          <a:ln/>
        </p:spPr>
        <p:txBody>
          <a:bodyPr wrap="square" rtlCol="0" anchor="ctr"/>
          <a:lstStyle/>
          <a:p>
            <a:pPr indent="0" marL="0">
              <a:buNone/>
            </a:pPr>
            <a:r>
              <a:rPr lang="en-US" sz="1300" b="1" dirty="0">
                <a:solidFill>
                  <a:srgbClr val="FF4444"/>
                </a:solidFill>
                <a:latin typeface="Calibri" pitchFamily="34" charset="0"/>
                <a:ea typeface="Calibri" pitchFamily="34" charset="-122"/>
                <a:cs typeface="Calibri" pitchFamily="34" charset="-120"/>
              </a:rPr>
              <a:t>Bandwidth Limits</a:t>
            </a:r>
            <a:endParaRPr lang="en-US" sz="1300" dirty="0"/>
          </a:p>
        </p:txBody>
      </p:sp>
      <p:sp>
        <p:nvSpPr>
          <p:cNvPr id="12" name="Text 10"/>
          <p:cNvSpPr/>
          <p:nvPr/>
        </p:nvSpPr>
        <p:spPr>
          <a:xfrm>
            <a:off x="566928" y="1673352"/>
            <a:ext cx="6583680" cy="6583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1.85 billion spoofed UDP packets ≈ 185 GB of data. Delivering this in 5 milliseconds requires a ~37,000 Gbps (37 Tbps) connection — far beyond any real-world infrastructure.</a:t>
            </a:r>
            <a:endParaRPr lang="en-US" sz="1050" dirty="0"/>
          </a:p>
        </p:txBody>
      </p:sp>
      <p:sp>
        <p:nvSpPr>
          <p:cNvPr id="13" name="Shape 11"/>
          <p:cNvSpPr/>
          <p:nvPr/>
        </p:nvSpPr>
        <p:spPr>
          <a:xfrm>
            <a:off x="365760" y="2560320"/>
            <a:ext cx="8412480" cy="1143000"/>
          </a:xfrm>
          <a:prstGeom prst="rect">
            <a:avLst/>
          </a:prstGeom>
          <a:solidFill>
            <a:srgbClr val="1A2235"/>
          </a:solidFill>
          <a:ln w="10160">
            <a:solidFill>
              <a:srgbClr val="FF8800"/>
            </a:solidFill>
            <a:prstDash val="solid"/>
          </a:ln>
        </p:spPr>
      </p:sp>
      <p:sp>
        <p:nvSpPr>
          <p:cNvPr id="14" name="Shape 12"/>
          <p:cNvSpPr/>
          <p:nvPr/>
        </p:nvSpPr>
        <p:spPr>
          <a:xfrm>
            <a:off x="365760" y="2560320"/>
            <a:ext cx="64008" cy="1143000"/>
          </a:xfrm>
          <a:prstGeom prst="rect">
            <a:avLst/>
          </a:prstGeom>
          <a:solidFill>
            <a:srgbClr val="FF8800"/>
          </a:solidFill>
          <a:ln w="12700">
            <a:solidFill>
              <a:srgbClr val="FF8800"/>
            </a:solidFill>
            <a:prstDash val="solid"/>
          </a:ln>
        </p:spPr>
      </p:sp>
      <p:sp>
        <p:nvSpPr>
          <p:cNvPr id="15" name="Shape 13"/>
          <p:cNvSpPr/>
          <p:nvPr/>
        </p:nvSpPr>
        <p:spPr>
          <a:xfrm>
            <a:off x="7315200" y="2697480"/>
            <a:ext cx="1371600" cy="777240"/>
          </a:xfrm>
          <a:prstGeom prst="rect">
            <a:avLst/>
          </a:prstGeom>
          <a:solidFill>
            <a:srgbClr val="FF8800">
              <a:alpha val="20000"/>
            </a:srgbClr>
          </a:solidFill>
          <a:ln w="12700">
            <a:solidFill>
              <a:srgbClr val="FF8800"/>
            </a:solidFill>
            <a:prstDash val="solid"/>
          </a:ln>
        </p:spPr>
      </p:sp>
      <p:sp>
        <p:nvSpPr>
          <p:cNvPr id="16" name="Text 14"/>
          <p:cNvSpPr/>
          <p:nvPr/>
        </p:nvSpPr>
        <p:spPr>
          <a:xfrm>
            <a:off x="7315200" y="2697480"/>
            <a:ext cx="1371600" cy="777240"/>
          </a:xfrm>
          <a:prstGeom prst="rect">
            <a:avLst/>
          </a:prstGeom>
          <a:noFill/>
          <a:ln/>
        </p:spPr>
        <p:txBody>
          <a:bodyPr wrap="square" rtlCol="0" anchor="ctr"/>
          <a:lstStyle/>
          <a:p>
            <a:pPr algn="ctr" indent="0" marL="0">
              <a:buNone/>
            </a:pPr>
            <a:r>
              <a:rPr lang="en-US" sz="1000" b="1" dirty="0">
                <a:solidFill>
                  <a:srgbClr val="FF8800"/>
                </a:solidFill>
                <a:latin typeface="Consolas" pitchFamily="34" charset="0"/>
                <a:ea typeface="Consolas" pitchFamily="34" charset="-122"/>
                <a:cs typeface="Consolas" pitchFamily="34" charset="-120"/>
              </a:rPr>
              <a:t>Resolver Crash</a:t>
            </a:r>
            <a:endParaRPr lang="en-US" sz="1000" dirty="0"/>
          </a:p>
        </p:txBody>
      </p:sp>
      <p:sp>
        <p:nvSpPr>
          <p:cNvPr id="17" name="Text 15"/>
          <p:cNvSpPr/>
          <p:nvPr/>
        </p:nvSpPr>
        <p:spPr>
          <a:xfrm>
            <a:off x="566928" y="2651760"/>
            <a:ext cx="6583680" cy="274320"/>
          </a:xfrm>
          <a:prstGeom prst="rect">
            <a:avLst/>
          </a:prstGeom>
          <a:noFill/>
          <a:ln/>
        </p:spPr>
        <p:txBody>
          <a:bodyPr wrap="square" rtlCol="0" anchor="ctr"/>
          <a:lstStyle/>
          <a:p>
            <a:pPr indent="0" marL="0">
              <a:buNone/>
            </a:pPr>
            <a:r>
              <a:rPr lang="en-US" sz="1300" b="1" dirty="0">
                <a:solidFill>
                  <a:srgbClr val="FF8800"/>
                </a:solidFill>
                <a:latin typeface="Calibri" pitchFamily="34" charset="0"/>
                <a:ea typeface="Calibri" pitchFamily="34" charset="-122"/>
                <a:cs typeface="Calibri" pitchFamily="34" charset="-120"/>
              </a:rPr>
              <a:t>Self-Defeating DDoS</a:t>
            </a:r>
            <a:endParaRPr lang="en-US" sz="1300" dirty="0"/>
          </a:p>
        </p:txBody>
      </p:sp>
      <p:sp>
        <p:nvSpPr>
          <p:cNvPr id="18" name="Text 16"/>
          <p:cNvSpPr/>
          <p:nvPr/>
        </p:nvSpPr>
        <p:spPr>
          <a:xfrm>
            <a:off x="566928" y="2971800"/>
            <a:ext cx="6583680" cy="6583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This volume of traffic overwhelms the resolver with a volumetric Denial-of-Service attack. The DNS server crashes before the cache is ever successfully poisoned — a self-defeating strategy.</a:t>
            </a:r>
            <a:endParaRPr lang="en-US" sz="1050" dirty="0"/>
          </a:p>
        </p:txBody>
      </p:sp>
      <p:sp>
        <p:nvSpPr>
          <p:cNvPr id="19" name="Shape 17"/>
          <p:cNvSpPr/>
          <p:nvPr/>
        </p:nvSpPr>
        <p:spPr>
          <a:xfrm>
            <a:off x="365760" y="3858768"/>
            <a:ext cx="8412480" cy="1143000"/>
          </a:xfrm>
          <a:prstGeom prst="rect">
            <a:avLst/>
          </a:prstGeom>
          <a:solidFill>
            <a:srgbClr val="1A2235"/>
          </a:solidFill>
          <a:ln w="10160">
            <a:solidFill>
              <a:srgbClr val="22C55E"/>
            </a:solidFill>
            <a:prstDash val="solid"/>
          </a:ln>
        </p:spPr>
      </p:sp>
      <p:sp>
        <p:nvSpPr>
          <p:cNvPr id="20" name="Shape 18"/>
          <p:cNvSpPr/>
          <p:nvPr/>
        </p:nvSpPr>
        <p:spPr>
          <a:xfrm>
            <a:off x="365760" y="3858768"/>
            <a:ext cx="64008" cy="1143000"/>
          </a:xfrm>
          <a:prstGeom prst="rect">
            <a:avLst/>
          </a:prstGeom>
          <a:solidFill>
            <a:srgbClr val="22C55E"/>
          </a:solidFill>
          <a:ln w="12700">
            <a:solidFill>
              <a:srgbClr val="22C55E"/>
            </a:solidFill>
            <a:prstDash val="solid"/>
          </a:ln>
        </p:spPr>
      </p:sp>
      <p:sp>
        <p:nvSpPr>
          <p:cNvPr id="21" name="Shape 19"/>
          <p:cNvSpPr/>
          <p:nvPr/>
        </p:nvSpPr>
        <p:spPr>
          <a:xfrm>
            <a:off x="7315200" y="3995928"/>
            <a:ext cx="1371600" cy="777240"/>
          </a:xfrm>
          <a:prstGeom prst="rect">
            <a:avLst/>
          </a:prstGeom>
          <a:solidFill>
            <a:srgbClr val="22C55E">
              <a:alpha val="20000"/>
            </a:srgbClr>
          </a:solidFill>
          <a:ln w="12700">
            <a:solidFill>
              <a:srgbClr val="22C55E"/>
            </a:solidFill>
            <a:prstDash val="solid"/>
          </a:ln>
        </p:spPr>
      </p:sp>
      <p:sp>
        <p:nvSpPr>
          <p:cNvPr id="22" name="Text 20"/>
          <p:cNvSpPr/>
          <p:nvPr/>
        </p:nvSpPr>
        <p:spPr>
          <a:xfrm>
            <a:off x="7315200" y="3995928"/>
            <a:ext cx="1371600" cy="777240"/>
          </a:xfrm>
          <a:prstGeom prst="rect">
            <a:avLst/>
          </a:prstGeom>
          <a:noFill/>
          <a:ln/>
        </p:spPr>
        <p:txBody>
          <a:bodyPr wrap="square" rtlCol="0" anchor="ctr"/>
          <a:lstStyle/>
          <a:p>
            <a:pPr algn="ctr" indent="0" marL="0">
              <a:buNone/>
            </a:pPr>
            <a:r>
              <a:rPr lang="en-US" sz="1000" b="1" dirty="0">
                <a:solidFill>
                  <a:srgbClr val="22C55E"/>
                </a:solidFill>
                <a:latin typeface="Consolas" pitchFamily="34" charset="0"/>
                <a:ea typeface="Consolas" pitchFamily="34" charset="-122"/>
                <a:cs typeface="Consolas" pitchFamily="34" charset="-120"/>
              </a:rPr>
              <a:t>BCP38 Blocks</a:t>
            </a:r>
            <a:endParaRPr lang="en-US" sz="1000" dirty="0"/>
          </a:p>
        </p:txBody>
      </p:sp>
      <p:sp>
        <p:nvSpPr>
          <p:cNvPr id="23" name="Text 21"/>
          <p:cNvSpPr/>
          <p:nvPr/>
        </p:nvSpPr>
        <p:spPr>
          <a:xfrm>
            <a:off x="566928" y="3950208"/>
            <a:ext cx="6583680" cy="27432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ISP Filtering (BCP38)</a:t>
            </a:r>
            <a:endParaRPr lang="en-US" sz="1300" dirty="0"/>
          </a:p>
        </p:txBody>
      </p:sp>
      <p:sp>
        <p:nvSpPr>
          <p:cNvPr id="24" name="Text 22"/>
          <p:cNvSpPr/>
          <p:nvPr/>
        </p:nvSpPr>
        <p:spPr>
          <a:xfrm>
            <a:off x="566928" y="4270248"/>
            <a:ext cx="6583680" cy="6583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Modern internet infrastructure applies BCP38 egress filtering — routers drop packets with spoofed source IPs originating from outside their defined subnet allocation. Spoofing at scale is blocked at the network edge.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0E1A"/>
          </a:solidFill>
          <a:ln w="12700">
            <a:solidFill>
              <a:srgbClr val="0A0E1A"/>
            </a:solidFill>
            <a:prstDash val="solid"/>
          </a:ln>
        </p:spPr>
      </p:sp>
      <p:sp>
        <p:nvSpPr>
          <p:cNvPr id="3" name="Shape 1"/>
          <p:cNvSpPr/>
          <p:nvPr/>
        </p:nvSpPr>
        <p:spPr>
          <a:xfrm>
            <a:off x="0" y="658368"/>
            <a:ext cx="9144000" cy="36576"/>
          </a:xfrm>
          <a:prstGeom prst="rect">
            <a:avLst/>
          </a:prstGeom>
          <a:solidFill>
            <a:srgbClr val="00D4FF"/>
          </a:solidFill>
          <a:ln w="12700">
            <a:solidFill>
              <a:srgbClr val="00D4FF"/>
            </a:solidFill>
            <a:prstDash val="solid"/>
          </a:ln>
        </p:spPr>
      </p:sp>
      <p:sp>
        <p:nvSpPr>
          <p:cNvPr id="4" name="Text 2"/>
          <p:cNvSpPr/>
          <p:nvPr/>
        </p:nvSpPr>
        <p:spPr>
          <a:xfrm>
            <a:off x="274320" y="91440"/>
            <a:ext cx="457200" cy="45720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09</a:t>
            </a:r>
            <a:endParaRPr lang="en-US" sz="1100" dirty="0"/>
          </a:p>
        </p:txBody>
      </p:sp>
      <p:sp>
        <p:nvSpPr>
          <p:cNvPr id="5" name="Text 3"/>
          <p:cNvSpPr/>
          <p:nvPr/>
        </p:nvSpPr>
        <p:spPr>
          <a:xfrm>
            <a:off x="822960" y="73152"/>
            <a:ext cx="7772400" cy="530352"/>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Port Scanning Fails</a:t>
            </a:r>
            <a:endParaRPr lang="en-US" sz="2200" dirty="0"/>
          </a:p>
        </p:txBody>
      </p:sp>
      <p:sp>
        <p:nvSpPr>
          <p:cNvPr id="6" name="Shape 4"/>
          <p:cNvSpPr/>
          <p:nvPr/>
        </p:nvSpPr>
        <p:spPr>
          <a:xfrm>
            <a:off x="365760" y="822960"/>
            <a:ext cx="8412480" cy="502920"/>
          </a:xfrm>
          <a:prstGeom prst="rect">
            <a:avLst/>
          </a:prstGeom>
          <a:solidFill>
            <a:srgbClr val="1C1010"/>
          </a:solidFill>
          <a:ln w="12700">
            <a:solidFill>
              <a:srgbClr val="FF4444"/>
            </a:solidFill>
            <a:prstDash val="solid"/>
          </a:ln>
        </p:spPr>
      </p:sp>
      <p:sp>
        <p:nvSpPr>
          <p:cNvPr id="7" name="Text 5"/>
          <p:cNvSpPr/>
          <p:nvPr/>
        </p:nvSpPr>
        <p:spPr>
          <a:xfrm>
            <a:off x="502920" y="822960"/>
            <a:ext cx="8138160" cy="502920"/>
          </a:xfrm>
          <a:prstGeom prst="rect">
            <a:avLst/>
          </a:prstGeom>
          <a:noFill/>
          <a:ln/>
        </p:spPr>
        <p:txBody>
          <a:bodyPr wrap="square" rtlCol="0" anchor="ctr"/>
          <a:lstStyle/>
          <a:p>
            <a:pPr indent="0" marL="0">
              <a:buNone/>
            </a:pPr>
            <a:r>
              <a:rPr lang="en-US" sz="1200" i="1" dirty="0">
                <a:solidFill>
                  <a:srgbClr val="E2E8F0"/>
                </a:solidFill>
                <a:latin typeface="Calibri" pitchFamily="34" charset="0"/>
                <a:ea typeface="Calibri" pitchFamily="34" charset="-122"/>
                <a:cs typeface="Calibri" pitchFamily="34" charset="-120"/>
              </a:rPr>
              <a:t>❓  Common Misconception: "Can't the attacker just Nmap-scan the DNS server for its ephemeral source port?"</a:t>
            </a:r>
            <a:endParaRPr lang="en-US" sz="1200" dirty="0"/>
          </a:p>
        </p:txBody>
      </p:sp>
      <p:sp>
        <p:nvSpPr>
          <p:cNvPr id="8" name="Shape 6"/>
          <p:cNvSpPr/>
          <p:nvPr/>
        </p:nvSpPr>
        <p:spPr>
          <a:xfrm>
            <a:off x="365760" y="1417320"/>
            <a:ext cx="8412480" cy="411480"/>
          </a:xfrm>
          <a:prstGeom prst="rect">
            <a:avLst/>
          </a:prstGeom>
          <a:solidFill>
            <a:srgbClr val="081A09"/>
          </a:solidFill>
          <a:ln w="12700">
            <a:solidFill>
              <a:srgbClr val="22C55E"/>
            </a:solidFill>
            <a:prstDash val="solid"/>
          </a:ln>
        </p:spPr>
      </p:sp>
      <p:sp>
        <p:nvSpPr>
          <p:cNvPr id="9" name="Text 7"/>
          <p:cNvSpPr/>
          <p:nvPr/>
        </p:nvSpPr>
        <p:spPr>
          <a:xfrm>
            <a:off x="502920" y="1417320"/>
            <a:ext cx="8138160" cy="41148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  Answer: No — and here is why:</a:t>
            </a:r>
            <a:endParaRPr lang="en-US" sz="1300" dirty="0"/>
          </a:p>
        </p:txBody>
      </p:sp>
      <p:sp>
        <p:nvSpPr>
          <p:cNvPr id="10" name="Shape 8"/>
          <p:cNvSpPr/>
          <p:nvPr/>
        </p:nvSpPr>
        <p:spPr>
          <a:xfrm>
            <a:off x="365760" y="2011680"/>
            <a:ext cx="1920240" cy="1645920"/>
          </a:xfrm>
          <a:prstGeom prst="rect">
            <a:avLst/>
          </a:prstGeom>
          <a:solidFill>
            <a:srgbClr val="1A2235"/>
          </a:solidFill>
          <a:ln w="10160">
            <a:solidFill>
              <a:srgbClr val="00D4FF"/>
            </a:solidFill>
            <a:prstDash val="solid"/>
          </a:ln>
        </p:spPr>
      </p:sp>
      <p:sp>
        <p:nvSpPr>
          <p:cNvPr id="11" name="Shape 9"/>
          <p:cNvSpPr/>
          <p:nvPr/>
        </p:nvSpPr>
        <p:spPr>
          <a:xfrm>
            <a:off x="365760" y="2011680"/>
            <a:ext cx="1920240" cy="365760"/>
          </a:xfrm>
          <a:prstGeom prst="rect">
            <a:avLst/>
          </a:prstGeom>
          <a:solidFill>
            <a:srgbClr val="00D4FF">
              <a:alpha val="30000"/>
            </a:srgbClr>
          </a:solidFill>
          <a:ln w="12700">
            <a:solidFill>
              <a:srgbClr val="00D4FF"/>
            </a:solidFill>
            <a:prstDash val="solid"/>
          </a:ln>
        </p:spPr>
      </p:sp>
      <p:sp>
        <p:nvSpPr>
          <p:cNvPr id="12" name="Text 10"/>
          <p:cNvSpPr/>
          <p:nvPr/>
        </p:nvSpPr>
        <p:spPr>
          <a:xfrm>
            <a:off x="365760" y="2011680"/>
            <a:ext cx="1920240" cy="36576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 = 0 ms</a:t>
            </a:r>
            <a:endParaRPr lang="en-US" sz="1000" dirty="0"/>
          </a:p>
        </p:txBody>
      </p:sp>
      <p:sp>
        <p:nvSpPr>
          <p:cNvPr id="13" name="Text 11"/>
          <p:cNvSpPr/>
          <p:nvPr/>
        </p:nvSpPr>
        <p:spPr>
          <a:xfrm>
            <a:off x="438912" y="2423160"/>
            <a:ext cx="1783080" cy="64008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Resolver sends</a:t>
            </a:r>
            <a:endParaRPr lang="en-US" sz="1100" dirty="0"/>
          </a:p>
          <a:p>
            <a:pPr algn="ctr" indent="0" marL="0">
              <a:buNone/>
            </a:pPr>
            <a:r>
              <a:rPr lang="en-US" sz="1100" b="1" dirty="0">
                <a:solidFill>
                  <a:srgbClr val="00D4FF"/>
                </a:solidFill>
                <a:latin typeface="Calibri" pitchFamily="34" charset="0"/>
                <a:ea typeface="Calibri" pitchFamily="34" charset="-122"/>
                <a:cs typeface="Calibri" pitchFamily="34" charset="-120"/>
              </a:rPr>
              <a:t>outbound query</a:t>
            </a:r>
            <a:endParaRPr lang="en-US" sz="1100" dirty="0"/>
          </a:p>
        </p:txBody>
      </p:sp>
      <p:sp>
        <p:nvSpPr>
          <p:cNvPr id="14" name="Text 12"/>
          <p:cNvSpPr/>
          <p:nvPr/>
        </p:nvSpPr>
        <p:spPr>
          <a:xfrm>
            <a:off x="438912" y="3090672"/>
            <a:ext cx="1783080" cy="502920"/>
          </a:xfrm>
          <a:prstGeom prst="rect">
            <a:avLst/>
          </a:prstGeom>
          <a:noFill/>
          <a:ln/>
        </p:spPr>
        <p:txBody>
          <a:bodyPr wrap="square" rtlCol="0" anchor="ctr"/>
          <a:lstStyle/>
          <a:p>
            <a:pPr algn="ctr" indent="0" marL="0">
              <a:buNone/>
            </a:pPr>
            <a:r>
              <a:rPr lang="en-US" sz="950" i="1" dirty="0">
                <a:solidFill>
                  <a:srgbClr val="94A3B8"/>
                </a:solidFill>
                <a:latin typeface="Calibri" pitchFamily="34" charset="0"/>
                <a:ea typeface="Calibri" pitchFamily="34" charset="-122"/>
                <a:cs typeface="Calibri" pitchFamily="34" charset="-120"/>
              </a:rPr>
              <a:t>Ephemeral port opens</a:t>
            </a:r>
            <a:endParaRPr lang="en-US" sz="950" dirty="0"/>
          </a:p>
        </p:txBody>
      </p:sp>
      <p:sp>
        <p:nvSpPr>
          <p:cNvPr id="15" name="Shape 13"/>
          <p:cNvSpPr/>
          <p:nvPr/>
        </p:nvSpPr>
        <p:spPr>
          <a:xfrm>
            <a:off x="2286000" y="2825496"/>
            <a:ext cx="228600" cy="18288"/>
          </a:xfrm>
          <a:prstGeom prst="rect">
            <a:avLst/>
          </a:prstGeom>
          <a:solidFill>
            <a:srgbClr val="1E3A5F"/>
          </a:solidFill>
          <a:ln w="12700">
            <a:solidFill>
              <a:srgbClr val="1E3A5F"/>
            </a:solidFill>
            <a:prstDash val="solid"/>
          </a:ln>
        </p:spPr>
      </p:sp>
      <p:sp>
        <p:nvSpPr>
          <p:cNvPr id="16" name="Text 14"/>
          <p:cNvSpPr/>
          <p:nvPr/>
        </p:nvSpPr>
        <p:spPr>
          <a:xfrm>
            <a:off x="2304288" y="2743200"/>
            <a:ext cx="182880" cy="182880"/>
          </a:xfrm>
          <a:prstGeom prst="rect">
            <a:avLst/>
          </a:prstGeom>
          <a:noFill/>
          <a:ln/>
        </p:spPr>
        <p:txBody>
          <a:bodyPr wrap="square" rtlCol="0" anchor="ctr"/>
          <a:lstStyle/>
          <a:p>
            <a:pPr indent="0" marL="0">
              <a:buNone/>
            </a:pPr>
            <a:r>
              <a:rPr lang="en-US" sz="1000" dirty="0">
                <a:solidFill>
                  <a:srgbClr val="1E3A5F"/>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2514600" y="2011680"/>
            <a:ext cx="1920240" cy="1645920"/>
          </a:xfrm>
          <a:prstGeom prst="rect">
            <a:avLst/>
          </a:prstGeom>
          <a:solidFill>
            <a:srgbClr val="1A2235"/>
          </a:solidFill>
          <a:ln w="10160">
            <a:solidFill>
              <a:srgbClr val="FBBF24"/>
            </a:solidFill>
            <a:prstDash val="solid"/>
          </a:ln>
        </p:spPr>
      </p:sp>
      <p:sp>
        <p:nvSpPr>
          <p:cNvPr id="18" name="Shape 16"/>
          <p:cNvSpPr/>
          <p:nvPr/>
        </p:nvSpPr>
        <p:spPr>
          <a:xfrm>
            <a:off x="2514600" y="2011680"/>
            <a:ext cx="1920240" cy="365760"/>
          </a:xfrm>
          <a:prstGeom prst="rect">
            <a:avLst/>
          </a:prstGeom>
          <a:solidFill>
            <a:srgbClr val="FBBF24">
              <a:alpha val="30000"/>
            </a:srgbClr>
          </a:solidFill>
          <a:ln w="12700">
            <a:solidFill>
              <a:srgbClr val="FBBF24"/>
            </a:solidFill>
            <a:prstDash val="solid"/>
          </a:ln>
        </p:spPr>
      </p:sp>
      <p:sp>
        <p:nvSpPr>
          <p:cNvPr id="19" name="Text 17"/>
          <p:cNvSpPr/>
          <p:nvPr/>
        </p:nvSpPr>
        <p:spPr>
          <a:xfrm>
            <a:off x="2514600" y="2011680"/>
            <a:ext cx="1920240" cy="36576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 = 1 ms</a:t>
            </a:r>
            <a:endParaRPr lang="en-US" sz="1000" dirty="0"/>
          </a:p>
        </p:txBody>
      </p:sp>
      <p:sp>
        <p:nvSpPr>
          <p:cNvPr id="20" name="Text 18"/>
          <p:cNvSpPr/>
          <p:nvPr/>
        </p:nvSpPr>
        <p:spPr>
          <a:xfrm>
            <a:off x="2587752" y="2423160"/>
            <a:ext cx="1783080" cy="640080"/>
          </a:xfrm>
          <a:prstGeom prst="rect">
            <a:avLst/>
          </a:prstGeom>
          <a:noFill/>
          <a:ln/>
        </p:spPr>
        <p:txBody>
          <a:bodyPr wrap="square" rtlCol="0" anchor="ctr"/>
          <a:lstStyle/>
          <a:p>
            <a:pPr algn="ctr" indent="0" marL="0">
              <a:buNone/>
            </a:pPr>
            <a:r>
              <a:rPr lang="en-US" sz="1100" b="1" dirty="0">
                <a:solidFill>
                  <a:srgbClr val="FBBF24"/>
                </a:solidFill>
                <a:latin typeface="Calibri" pitchFamily="34" charset="0"/>
                <a:ea typeface="Calibri" pitchFamily="34" charset="-122"/>
                <a:cs typeface="Calibri" pitchFamily="34" charset="-120"/>
              </a:rPr>
              <a:t>Scanner starts</a:t>
            </a:r>
            <a:endParaRPr lang="en-US" sz="1100" dirty="0"/>
          </a:p>
          <a:p>
            <a:pPr algn="ctr" indent="0" marL="0">
              <a:buNone/>
            </a:pPr>
            <a:r>
              <a:rPr lang="en-US" sz="1100" b="1" dirty="0">
                <a:solidFill>
                  <a:srgbClr val="FBBF24"/>
                </a:solidFill>
                <a:latin typeface="Calibri" pitchFamily="34" charset="0"/>
                <a:ea typeface="Calibri" pitchFamily="34" charset="-122"/>
                <a:cs typeface="Calibri" pitchFamily="34" charset="-120"/>
              </a:rPr>
              <a:t>port discovery</a:t>
            </a:r>
            <a:endParaRPr lang="en-US" sz="1100" dirty="0"/>
          </a:p>
        </p:txBody>
      </p:sp>
      <p:sp>
        <p:nvSpPr>
          <p:cNvPr id="21" name="Text 19"/>
          <p:cNvSpPr/>
          <p:nvPr/>
        </p:nvSpPr>
        <p:spPr>
          <a:xfrm>
            <a:off x="2587752" y="3090672"/>
            <a:ext cx="1783080" cy="502920"/>
          </a:xfrm>
          <a:prstGeom prst="rect">
            <a:avLst/>
          </a:prstGeom>
          <a:noFill/>
          <a:ln/>
        </p:spPr>
        <p:txBody>
          <a:bodyPr wrap="square" rtlCol="0" anchor="ctr"/>
          <a:lstStyle/>
          <a:p>
            <a:pPr algn="ctr" indent="0" marL="0">
              <a:buNone/>
            </a:pPr>
            <a:r>
              <a:rPr lang="en-US" sz="950" i="1" dirty="0">
                <a:solidFill>
                  <a:srgbClr val="94A3B8"/>
                </a:solidFill>
                <a:latin typeface="Calibri" pitchFamily="34" charset="0"/>
                <a:ea typeface="Calibri" pitchFamily="34" charset="-122"/>
                <a:cs typeface="Calibri" pitchFamily="34" charset="-120"/>
              </a:rPr>
              <a:t>Nmap SYN flood begins</a:t>
            </a:r>
            <a:endParaRPr lang="en-US" sz="950" dirty="0"/>
          </a:p>
        </p:txBody>
      </p:sp>
      <p:sp>
        <p:nvSpPr>
          <p:cNvPr id="22" name="Shape 20"/>
          <p:cNvSpPr/>
          <p:nvPr/>
        </p:nvSpPr>
        <p:spPr>
          <a:xfrm>
            <a:off x="4434840" y="2825496"/>
            <a:ext cx="228600" cy="18288"/>
          </a:xfrm>
          <a:prstGeom prst="rect">
            <a:avLst/>
          </a:prstGeom>
          <a:solidFill>
            <a:srgbClr val="1E3A5F"/>
          </a:solidFill>
          <a:ln w="12700">
            <a:solidFill>
              <a:srgbClr val="1E3A5F"/>
            </a:solidFill>
            <a:prstDash val="solid"/>
          </a:ln>
        </p:spPr>
      </p:sp>
      <p:sp>
        <p:nvSpPr>
          <p:cNvPr id="23" name="Text 21"/>
          <p:cNvSpPr/>
          <p:nvPr/>
        </p:nvSpPr>
        <p:spPr>
          <a:xfrm>
            <a:off x="4453128" y="2743200"/>
            <a:ext cx="182880" cy="182880"/>
          </a:xfrm>
          <a:prstGeom prst="rect">
            <a:avLst/>
          </a:prstGeom>
          <a:noFill/>
          <a:ln/>
        </p:spPr>
        <p:txBody>
          <a:bodyPr wrap="square" rtlCol="0" anchor="ctr"/>
          <a:lstStyle/>
          <a:p>
            <a:pPr indent="0" marL="0">
              <a:buNone/>
            </a:pPr>
            <a:r>
              <a:rPr lang="en-US" sz="1000" dirty="0">
                <a:solidFill>
                  <a:srgbClr val="1E3A5F"/>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4663440" y="2011680"/>
            <a:ext cx="1920240" cy="1645920"/>
          </a:xfrm>
          <a:prstGeom prst="rect">
            <a:avLst/>
          </a:prstGeom>
          <a:solidFill>
            <a:srgbClr val="1A2235"/>
          </a:solidFill>
          <a:ln w="10160">
            <a:solidFill>
              <a:srgbClr val="22C55E"/>
            </a:solidFill>
            <a:prstDash val="solid"/>
          </a:ln>
        </p:spPr>
      </p:sp>
      <p:sp>
        <p:nvSpPr>
          <p:cNvPr id="25" name="Shape 23"/>
          <p:cNvSpPr/>
          <p:nvPr/>
        </p:nvSpPr>
        <p:spPr>
          <a:xfrm>
            <a:off x="4663440" y="2011680"/>
            <a:ext cx="1920240" cy="365760"/>
          </a:xfrm>
          <a:prstGeom prst="rect">
            <a:avLst/>
          </a:prstGeom>
          <a:solidFill>
            <a:srgbClr val="22C55E">
              <a:alpha val="30000"/>
            </a:srgbClr>
          </a:solidFill>
          <a:ln w="12700">
            <a:solidFill>
              <a:srgbClr val="22C55E"/>
            </a:solidFill>
            <a:prstDash val="solid"/>
          </a:ln>
        </p:spPr>
      </p:sp>
      <p:sp>
        <p:nvSpPr>
          <p:cNvPr id="26" name="Text 24"/>
          <p:cNvSpPr/>
          <p:nvPr/>
        </p:nvSpPr>
        <p:spPr>
          <a:xfrm>
            <a:off x="4663440" y="2011680"/>
            <a:ext cx="1920240" cy="36576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 = 5–10 ms</a:t>
            </a:r>
            <a:endParaRPr lang="en-US" sz="1000" dirty="0"/>
          </a:p>
        </p:txBody>
      </p:sp>
      <p:sp>
        <p:nvSpPr>
          <p:cNvPr id="27" name="Text 25"/>
          <p:cNvSpPr/>
          <p:nvPr/>
        </p:nvSpPr>
        <p:spPr>
          <a:xfrm>
            <a:off x="4736592" y="2423160"/>
            <a:ext cx="1783080" cy="640080"/>
          </a:xfrm>
          <a:prstGeom prst="rect">
            <a:avLst/>
          </a:prstGeom>
          <a:noFill/>
          <a:ln/>
        </p:spPr>
        <p:txBody>
          <a:bodyPr wrap="square"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Legitimate reply</a:t>
            </a:r>
            <a:endParaRPr lang="en-US" sz="1100" dirty="0"/>
          </a:p>
          <a:p>
            <a:pPr algn="ctr" indent="0" marL="0">
              <a:buNone/>
            </a:pPr>
            <a:r>
              <a:rPr lang="en-US" sz="1100" b="1" dirty="0">
                <a:solidFill>
                  <a:srgbClr val="22C55E"/>
                </a:solidFill>
                <a:latin typeface="Calibri" pitchFamily="34" charset="0"/>
                <a:ea typeface="Calibri" pitchFamily="34" charset="-122"/>
                <a:cs typeface="Calibri" pitchFamily="34" charset="-120"/>
              </a:rPr>
              <a:t>arrives from upstream</a:t>
            </a:r>
            <a:endParaRPr lang="en-US" sz="1100" dirty="0"/>
          </a:p>
        </p:txBody>
      </p:sp>
      <p:sp>
        <p:nvSpPr>
          <p:cNvPr id="28" name="Text 26"/>
          <p:cNvSpPr/>
          <p:nvPr/>
        </p:nvSpPr>
        <p:spPr>
          <a:xfrm>
            <a:off x="4736592" y="3090672"/>
            <a:ext cx="1783080" cy="502920"/>
          </a:xfrm>
          <a:prstGeom prst="rect">
            <a:avLst/>
          </a:prstGeom>
          <a:noFill/>
          <a:ln/>
        </p:spPr>
        <p:txBody>
          <a:bodyPr wrap="square" rtlCol="0" anchor="ctr"/>
          <a:lstStyle/>
          <a:p>
            <a:pPr algn="ctr" indent="0" marL="0">
              <a:buNone/>
            </a:pPr>
            <a:r>
              <a:rPr lang="en-US" sz="950" i="1" dirty="0">
                <a:solidFill>
                  <a:srgbClr val="94A3B8"/>
                </a:solidFill>
                <a:latin typeface="Calibri" pitchFamily="34" charset="0"/>
                <a:ea typeface="Calibri" pitchFamily="34" charset="-122"/>
                <a:cs typeface="Calibri" pitchFamily="34" charset="-120"/>
              </a:rPr>
              <a:t>Query answered, port closed</a:t>
            </a:r>
            <a:endParaRPr lang="en-US" sz="950" dirty="0"/>
          </a:p>
        </p:txBody>
      </p:sp>
      <p:sp>
        <p:nvSpPr>
          <p:cNvPr id="29" name="Shape 27"/>
          <p:cNvSpPr/>
          <p:nvPr/>
        </p:nvSpPr>
        <p:spPr>
          <a:xfrm>
            <a:off x="6583680" y="2825496"/>
            <a:ext cx="228600" cy="18288"/>
          </a:xfrm>
          <a:prstGeom prst="rect">
            <a:avLst/>
          </a:prstGeom>
          <a:solidFill>
            <a:srgbClr val="1E3A5F"/>
          </a:solidFill>
          <a:ln w="12700">
            <a:solidFill>
              <a:srgbClr val="1E3A5F"/>
            </a:solidFill>
            <a:prstDash val="solid"/>
          </a:ln>
        </p:spPr>
      </p:sp>
      <p:sp>
        <p:nvSpPr>
          <p:cNvPr id="30" name="Text 28"/>
          <p:cNvSpPr/>
          <p:nvPr/>
        </p:nvSpPr>
        <p:spPr>
          <a:xfrm>
            <a:off x="6601968" y="2743200"/>
            <a:ext cx="182880" cy="182880"/>
          </a:xfrm>
          <a:prstGeom prst="rect">
            <a:avLst/>
          </a:prstGeom>
          <a:noFill/>
          <a:ln/>
        </p:spPr>
        <p:txBody>
          <a:bodyPr wrap="square" rtlCol="0" anchor="ctr"/>
          <a:lstStyle/>
          <a:p>
            <a:pPr indent="0" marL="0">
              <a:buNone/>
            </a:pPr>
            <a:r>
              <a:rPr lang="en-US" sz="1000" dirty="0">
                <a:solidFill>
                  <a:srgbClr val="1E3A5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812280" y="2011680"/>
            <a:ext cx="1920240" cy="1645920"/>
          </a:xfrm>
          <a:prstGeom prst="rect">
            <a:avLst/>
          </a:prstGeom>
          <a:solidFill>
            <a:srgbClr val="1A2235"/>
          </a:solidFill>
          <a:ln w="10160">
            <a:solidFill>
              <a:srgbClr val="FF4444"/>
            </a:solidFill>
            <a:prstDash val="solid"/>
          </a:ln>
        </p:spPr>
      </p:sp>
      <p:sp>
        <p:nvSpPr>
          <p:cNvPr id="32" name="Shape 30"/>
          <p:cNvSpPr/>
          <p:nvPr/>
        </p:nvSpPr>
        <p:spPr>
          <a:xfrm>
            <a:off x="6812280" y="2011680"/>
            <a:ext cx="1920240" cy="365760"/>
          </a:xfrm>
          <a:prstGeom prst="rect">
            <a:avLst/>
          </a:prstGeom>
          <a:solidFill>
            <a:srgbClr val="FF4444">
              <a:alpha val="30000"/>
            </a:srgbClr>
          </a:solidFill>
          <a:ln w="12700">
            <a:solidFill>
              <a:srgbClr val="FF4444"/>
            </a:solidFill>
            <a:prstDash val="solid"/>
          </a:ln>
        </p:spPr>
      </p:sp>
      <p:sp>
        <p:nvSpPr>
          <p:cNvPr id="33" name="Text 31"/>
          <p:cNvSpPr/>
          <p:nvPr/>
        </p:nvSpPr>
        <p:spPr>
          <a:xfrm>
            <a:off x="6812280" y="2011680"/>
            <a:ext cx="1920240" cy="36576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 = 50–500 ms</a:t>
            </a:r>
            <a:endParaRPr lang="en-US" sz="1000" dirty="0"/>
          </a:p>
        </p:txBody>
      </p:sp>
      <p:sp>
        <p:nvSpPr>
          <p:cNvPr id="34" name="Text 32"/>
          <p:cNvSpPr/>
          <p:nvPr/>
        </p:nvSpPr>
        <p:spPr>
          <a:xfrm>
            <a:off x="6885432" y="2423160"/>
            <a:ext cx="1783080" cy="640080"/>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Scanner identifies</a:t>
            </a:r>
            <a:endParaRPr lang="en-US" sz="1100" dirty="0"/>
          </a:p>
          <a:p>
            <a:pPr algn="ctr" indent="0" marL="0">
              <a:buNone/>
            </a:pPr>
            <a:r>
              <a:rPr lang="en-US" sz="1100" b="1" dirty="0">
                <a:solidFill>
                  <a:srgbClr val="FF4444"/>
                </a:solidFill>
                <a:latin typeface="Calibri" pitchFamily="34" charset="0"/>
                <a:ea typeface="Calibri" pitchFamily="34" charset="-122"/>
                <a:cs typeface="Calibri" pitchFamily="34" charset="-120"/>
              </a:rPr>
              <a:t>open port</a:t>
            </a:r>
            <a:endParaRPr lang="en-US" sz="1100" dirty="0"/>
          </a:p>
        </p:txBody>
      </p:sp>
      <p:sp>
        <p:nvSpPr>
          <p:cNvPr id="35" name="Text 33"/>
          <p:cNvSpPr/>
          <p:nvPr/>
        </p:nvSpPr>
        <p:spPr>
          <a:xfrm>
            <a:off x="6885432" y="3090672"/>
            <a:ext cx="1783080" cy="502920"/>
          </a:xfrm>
          <a:prstGeom prst="rect">
            <a:avLst/>
          </a:prstGeom>
          <a:noFill/>
          <a:ln/>
        </p:spPr>
        <p:txBody>
          <a:bodyPr wrap="square" rtlCol="0" anchor="ctr"/>
          <a:lstStyle/>
          <a:p>
            <a:pPr algn="ctr" indent="0" marL="0">
              <a:buNone/>
            </a:pPr>
            <a:r>
              <a:rPr lang="en-US" sz="950" i="1" dirty="0">
                <a:solidFill>
                  <a:srgbClr val="94A3B8"/>
                </a:solidFill>
                <a:latin typeface="Calibri" pitchFamily="34" charset="0"/>
                <a:ea typeface="Calibri" pitchFamily="34" charset="-122"/>
                <a:cs typeface="Calibri" pitchFamily="34" charset="-120"/>
              </a:rPr>
              <a:t>But attack window has expired!</a:t>
            </a:r>
            <a:endParaRPr lang="en-US" sz="950" dirty="0"/>
          </a:p>
        </p:txBody>
      </p:sp>
      <p:sp>
        <p:nvSpPr>
          <p:cNvPr id="36" name="Shape 34"/>
          <p:cNvSpPr/>
          <p:nvPr/>
        </p:nvSpPr>
        <p:spPr>
          <a:xfrm>
            <a:off x="365760" y="3840480"/>
            <a:ext cx="8412480" cy="1005840"/>
          </a:xfrm>
          <a:prstGeom prst="rect">
            <a:avLst/>
          </a:prstGeom>
          <a:solidFill>
            <a:srgbClr val="1A2235"/>
          </a:solidFill>
          <a:ln w="12700">
            <a:solidFill>
              <a:srgbClr val="1E3A5F"/>
            </a:solidFill>
            <a:prstDash val="solid"/>
          </a:ln>
        </p:spPr>
      </p:sp>
      <p:sp>
        <p:nvSpPr>
          <p:cNvPr id="37" name="Shape 35"/>
          <p:cNvSpPr/>
          <p:nvPr/>
        </p:nvSpPr>
        <p:spPr>
          <a:xfrm>
            <a:off x="365760" y="3840480"/>
            <a:ext cx="64008" cy="1005840"/>
          </a:xfrm>
          <a:prstGeom prst="rect">
            <a:avLst/>
          </a:prstGeom>
          <a:solidFill>
            <a:srgbClr val="00D4FF"/>
          </a:solidFill>
          <a:ln w="12700">
            <a:solidFill>
              <a:srgbClr val="00D4FF"/>
            </a:solidFill>
            <a:prstDash val="solid"/>
          </a:ln>
        </p:spPr>
      </p:sp>
      <p:sp>
        <p:nvSpPr>
          <p:cNvPr id="38" name="Text 36"/>
          <p:cNvSpPr/>
          <p:nvPr/>
        </p:nvSpPr>
        <p:spPr>
          <a:xfrm>
            <a:off x="566928" y="3886200"/>
            <a:ext cx="7955280" cy="256032"/>
          </a:xfrm>
          <a:prstGeom prst="rect">
            <a:avLst/>
          </a:prstGeom>
          <a:noFill/>
          <a:ln/>
        </p:spPr>
        <p:txBody>
          <a:bodyPr wrap="square"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Key Insight</a:t>
            </a:r>
            <a:endParaRPr lang="en-US" sz="1200" dirty="0"/>
          </a:p>
        </p:txBody>
      </p:sp>
      <p:sp>
        <p:nvSpPr>
          <p:cNvPr id="39" name="Text 37"/>
          <p:cNvSpPr/>
          <p:nvPr/>
        </p:nvSpPr>
        <p:spPr>
          <a:xfrm>
            <a:off x="566928" y="4160520"/>
            <a:ext cx="7955280" cy="62179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The resolver's receiving port (Port 53) is public knowledge. However, the ephemeral source port used for each outgoing query exists for only 5–10 milliseconds. Network scanning is orders of magnitude too slow — by the time a scanner identifies the port, it is already closed.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274320" y="137160"/>
            <a:ext cx="457200" cy="36576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10</a:t>
            </a:r>
            <a:endParaRPr lang="en-US" sz="1100" dirty="0"/>
          </a:p>
        </p:txBody>
      </p:sp>
      <p:sp>
        <p:nvSpPr>
          <p:cNvPr id="4" name="Text 2"/>
          <p:cNvSpPr/>
          <p:nvPr/>
        </p:nvSpPr>
        <p:spPr>
          <a:xfrm>
            <a:off x="822960" y="91440"/>
            <a:ext cx="77724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 &amp; The Ultimate Defense</a:t>
            </a:r>
            <a:endParaRPr lang="en-US" sz="2200" dirty="0"/>
          </a:p>
        </p:txBody>
      </p:sp>
      <p:sp>
        <p:nvSpPr>
          <p:cNvPr id="5" name="Shape 3"/>
          <p:cNvSpPr/>
          <p:nvPr/>
        </p:nvSpPr>
        <p:spPr>
          <a:xfrm>
            <a:off x="365760" y="713232"/>
            <a:ext cx="3977640" cy="1554480"/>
          </a:xfrm>
          <a:prstGeom prst="rect">
            <a:avLst/>
          </a:prstGeom>
          <a:solidFill>
            <a:srgbClr val="1A2235"/>
          </a:solidFill>
          <a:ln w="10160">
            <a:solidFill>
              <a:srgbClr val="00D4FF"/>
            </a:solidFill>
            <a:prstDash val="solid"/>
          </a:ln>
        </p:spPr>
      </p:sp>
      <p:sp>
        <p:nvSpPr>
          <p:cNvPr id="6" name="Shape 4"/>
          <p:cNvSpPr/>
          <p:nvPr/>
        </p:nvSpPr>
        <p:spPr>
          <a:xfrm>
            <a:off x="365760" y="713232"/>
            <a:ext cx="64008" cy="1554480"/>
          </a:xfrm>
          <a:prstGeom prst="rect">
            <a:avLst/>
          </a:prstGeom>
          <a:solidFill>
            <a:srgbClr val="00D4FF"/>
          </a:solidFill>
          <a:ln w="12700">
            <a:solidFill>
              <a:srgbClr val="00D4FF"/>
            </a:solidFill>
            <a:prstDash val="solid"/>
          </a:ln>
        </p:spPr>
      </p:sp>
      <p:sp>
        <p:nvSpPr>
          <p:cNvPr id="7" name="Text 5"/>
          <p:cNvSpPr/>
          <p:nvPr/>
        </p:nvSpPr>
        <p:spPr>
          <a:xfrm>
            <a:off x="548640" y="786384"/>
            <a:ext cx="3566160" cy="347472"/>
          </a:xfrm>
          <a:prstGeom prst="rect">
            <a:avLst/>
          </a:prstGeom>
          <a:noFill/>
          <a:ln/>
        </p:spPr>
        <p:txBody>
          <a:bodyPr wrap="square"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Source Port Randomization</a:t>
            </a:r>
            <a:endParaRPr lang="en-US" sz="1250" dirty="0"/>
          </a:p>
        </p:txBody>
      </p:sp>
      <p:sp>
        <p:nvSpPr>
          <p:cNvPr id="8" name="Text 6"/>
          <p:cNvSpPr/>
          <p:nvPr/>
        </p:nvSpPr>
        <p:spPr>
          <a:xfrm>
            <a:off x="548640" y="1170432"/>
            <a:ext cx="3566160" cy="100584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Neutralizes the Kaminsky attack by making the attacker's search space statistically insurmountable.</a:t>
            </a:r>
            <a:endParaRPr lang="en-US" sz="1100" dirty="0"/>
          </a:p>
        </p:txBody>
      </p:sp>
      <p:sp>
        <p:nvSpPr>
          <p:cNvPr id="9" name="Shape 7"/>
          <p:cNvSpPr/>
          <p:nvPr/>
        </p:nvSpPr>
        <p:spPr>
          <a:xfrm>
            <a:off x="4663440" y="713232"/>
            <a:ext cx="3977640" cy="1554480"/>
          </a:xfrm>
          <a:prstGeom prst="rect">
            <a:avLst/>
          </a:prstGeom>
          <a:solidFill>
            <a:srgbClr val="1A2235"/>
          </a:solidFill>
          <a:ln w="10160">
            <a:solidFill>
              <a:srgbClr val="FBBF24"/>
            </a:solidFill>
            <a:prstDash val="solid"/>
          </a:ln>
        </p:spPr>
      </p:sp>
      <p:sp>
        <p:nvSpPr>
          <p:cNvPr id="10" name="Shape 8"/>
          <p:cNvSpPr/>
          <p:nvPr/>
        </p:nvSpPr>
        <p:spPr>
          <a:xfrm>
            <a:off x="4663440" y="713232"/>
            <a:ext cx="64008" cy="1554480"/>
          </a:xfrm>
          <a:prstGeom prst="rect">
            <a:avLst/>
          </a:prstGeom>
          <a:solidFill>
            <a:srgbClr val="FBBF24"/>
          </a:solidFill>
          <a:ln w="12700">
            <a:solidFill>
              <a:srgbClr val="FBBF24"/>
            </a:solidFill>
            <a:prstDash val="solid"/>
          </a:ln>
        </p:spPr>
      </p:sp>
      <p:sp>
        <p:nvSpPr>
          <p:cNvPr id="11" name="Text 9"/>
          <p:cNvSpPr/>
          <p:nvPr/>
        </p:nvSpPr>
        <p:spPr>
          <a:xfrm>
            <a:off x="4846320" y="786384"/>
            <a:ext cx="3566160" cy="347472"/>
          </a:xfrm>
          <a:prstGeom prst="rect">
            <a:avLst/>
          </a:prstGeom>
          <a:noFill/>
          <a:ln/>
        </p:spPr>
        <p:txBody>
          <a:bodyPr wrap="square"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Entropy Has Limits</a:t>
            </a:r>
            <a:endParaRPr lang="en-US" sz="1250" dirty="0"/>
          </a:p>
        </p:txBody>
      </p:sp>
      <p:sp>
        <p:nvSpPr>
          <p:cNvPr id="12" name="Text 10"/>
          <p:cNvSpPr/>
          <p:nvPr/>
        </p:nvSpPr>
        <p:spPr>
          <a:xfrm>
            <a:off x="4846320" y="1170432"/>
            <a:ext cx="3566160" cy="100584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Port randomization alone is probabilistic — it is not cryptographically guaranteed. A lucky attacker still has a vanishingly small but non-zero chance.</a:t>
            </a:r>
            <a:endParaRPr lang="en-US" sz="1100" dirty="0"/>
          </a:p>
        </p:txBody>
      </p:sp>
      <p:sp>
        <p:nvSpPr>
          <p:cNvPr id="13" name="Shape 11"/>
          <p:cNvSpPr/>
          <p:nvPr/>
        </p:nvSpPr>
        <p:spPr>
          <a:xfrm>
            <a:off x="365760" y="2423160"/>
            <a:ext cx="8412480" cy="2331720"/>
          </a:xfrm>
          <a:prstGeom prst="rect">
            <a:avLst/>
          </a:prstGeom>
          <a:solidFill>
            <a:srgbClr val="05111A"/>
          </a:solidFill>
          <a:ln w="19050">
            <a:solidFill>
              <a:srgbClr val="00D4FF"/>
            </a:solidFill>
            <a:prstDash val="solid"/>
          </a:ln>
        </p:spPr>
      </p:sp>
      <p:sp>
        <p:nvSpPr>
          <p:cNvPr id="14" name="Shape 12"/>
          <p:cNvSpPr/>
          <p:nvPr/>
        </p:nvSpPr>
        <p:spPr>
          <a:xfrm>
            <a:off x="365760" y="2423160"/>
            <a:ext cx="8412480" cy="502920"/>
          </a:xfrm>
          <a:prstGeom prst="rect">
            <a:avLst/>
          </a:prstGeom>
          <a:solidFill>
            <a:srgbClr val="00D4FF">
              <a:alpha val="25000"/>
            </a:srgbClr>
          </a:solidFill>
          <a:ln w="12700">
            <a:solidFill>
              <a:srgbClr val="00D4FF"/>
            </a:solidFill>
            <a:prstDash val="solid"/>
          </a:ln>
        </p:spPr>
      </p:sp>
      <p:sp>
        <p:nvSpPr>
          <p:cNvPr id="15" name="Text 13"/>
          <p:cNvSpPr/>
          <p:nvPr/>
        </p:nvSpPr>
        <p:spPr>
          <a:xfrm>
            <a:off x="365760" y="2423160"/>
            <a:ext cx="84124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THE ULTIMATE SOLUTION — DNSSEC</a:t>
            </a:r>
            <a:endParaRPr lang="en-US" sz="1500" dirty="0"/>
          </a:p>
        </p:txBody>
      </p:sp>
      <p:sp>
        <p:nvSpPr>
          <p:cNvPr id="16" name="Text 14"/>
          <p:cNvSpPr/>
          <p:nvPr/>
        </p:nvSpPr>
        <p:spPr>
          <a:xfrm>
            <a:off x="548640" y="2999232"/>
            <a:ext cx="8046720" cy="347472"/>
          </a:xfrm>
          <a:prstGeom prst="rect">
            <a:avLst/>
          </a:prstGeom>
          <a:noFill/>
          <a:ln/>
        </p:spPr>
        <p:txBody>
          <a:bodyPr wrap="square"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DNS Security Extensions</a:t>
            </a:r>
            <a:endParaRPr lang="en-US" sz="1600" dirty="0"/>
          </a:p>
        </p:txBody>
      </p:sp>
      <p:sp>
        <p:nvSpPr>
          <p:cNvPr id="17" name="Text 15"/>
          <p:cNvSpPr/>
          <p:nvPr/>
        </p:nvSpPr>
        <p:spPr>
          <a:xfrm>
            <a:off x="548640" y="3383280"/>
            <a:ext cx="8046720" cy="640080"/>
          </a:xfrm>
          <a:prstGeom prst="rect">
            <a:avLst/>
          </a:prstGeom>
          <a:noFill/>
          <a:ln/>
        </p:spPr>
        <p:txBody>
          <a:bodyPr wrap="square" rtlCol="0" anchor="ctr"/>
          <a:lstStyle/>
          <a:p>
            <a:pPr indent="0" marL="0">
              <a:buNone/>
            </a:pPr>
            <a:r>
              <a:rPr lang="en-US" sz="1150" dirty="0">
                <a:solidFill>
                  <a:srgbClr val="E2E8F0"/>
                </a:solidFill>
                <a:latin typeface="Calibri" pitchFamily="34" charset="0"/>
                <a:ea typeface="Calibri" pitchFamily="34" charset="-122"/>
                <a:cs typeface="Calibri" pitchFamily="34" charset="-120"/>
              </a:rPr>
              <a:t>DNSSEC adds cryptographic digital signatures to every DNS record. Even if an attacker perfectly guesses both the source port and Transaction ID, the resolver will </a:t>
            </a:r>
            <a:pPr indent="0" marL="0">
              <a:buNone/>
            </a:pPr>
            <a:r>
              <a:rPr lang="en-US" sz="1150" b="1" dirty="0">
                <a:solidFill>
                  <a:srgbClr val="FF4444"/>
                </a:solidFill>
                <a:latin typeface="Calibri" pitchFamily="34" charset="0"/>
                <a:ea typeface="Calibri" pitchFamily="34" charset="-122"/>
                <a:cs typeface="Calibri" pitchFamily="34" charset="-120"/>
              </a:rPr>
              <a:t>reject the forged response</a:t>
            </a:r>
            <a:pPr indent="0" marL="0">
              <a:buNone/>
            </a:pPr>
            <a:r>
              <a:rPr lang="en-US" sz="1150" dirty="0">
                <a:solidFill>
                  <a:srgbClr val="E2E8F0"/>
                </a:solidFill>
                <a:latin typeface="Calibri" pitchFamily="34" charset="0"/>
                <a:ea typeface="Calibri" pitchFamily="34" charset="-122"/>
                <a:cs typeface="Calibri" pitchFamily="34" charset="-120"/>
              </a:rPr>
              <a:t> because it lacks the valid signature from the true domain owner's private key.</a:t>
            </a:r>
            <a:endParaRPr lang="en-US" sz="1150" dirty="0"/>
          </a:p>
        </p:txBody>
      </p:sp>
      <p:sp>
        <p:nvSpPr>
          <p:cNvPr id="18" name="Shape 16"/>
          <p:cNvSpPr/>
          <p:nvPr/>
        </p:nvSpPr>
        <p:spPr>
          <a:xfrm>
            <a:off x="548640" y="4114800"/>
            <a:ext cx="2514600" cy="502920"/>
          </a:xfrm>
          <a:prstGeom prst="rect">
            <a:avLst/>
          </a:prstGeom>
          <a:solidFill>
            <a:srgbClr val="00D4FF">
              <a:alpha val="18000"/>
            </a:srgbClr>
          </a:solidFill>
          <a:ln w="12700">
            <a:solidFill>
              <a:srgbClr val="00D4FF"/>
            </a:solidFill>
            <a:prstDash val="solid"/>
          </a:ln>
        </p:spPr>
      </p:sp>
      <p:sp>
        <p:nvSpPr>
          <p:cNvPr id="19" name="Text 17"/>
          <p:cNvSpPr/>
          <p:nvPr/>
        </p:nvSpPr>
        <p:spPr>
          <a:xfrm>
            <a:off x="548640" y="4114800"/>
            <a:ext cx="1005840" cy="502920"/>
          </a:xfrm>
          <a:prstGeom prst="rect">
            <a:avLst/>
          </a:prstGeom>
          <a:noFill/>
          <a:ln/>
        </p:spPr>
        <p:txBody>
          <a:bodyPr wrap="square"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Origin Auth.: </a:t>
            </a:r>
            <a:endParaRPr lang="en-US" sz="1000" dirty="0"/>
          </a:p>
        </p:txBody>
      </p:sp>
      <p:sp>
        <p:nvSpPr>
          <p:cNvPr id="20" name="Text 18"/>
          <p:cNvSpPr/>
          <p:nvPr/>
        </p:nvSpPr>
        <p:spPr>
          <a:xfrm>
            <a:off x="1554480" y="4114800"/>
            <a:ext cx="1417320" cy="502920"/>
          </a:xfrm>
          <a:prstGeom prst="rect">
            <a:avLst/>
          </a:prstGeom>
          <a:noFill/>
          <a:ln/>
        </p:spPr>
        <p:txBody>
          <a:bodyPr wrap="square" rtlCol="0" anchor="ctr"/>
          <a:lstStyle/>
          <a:p>
            <a:pPr indent="0" marL="0">
              <a:buNone/>
            </a:pPr>
            <a:r>
              <a:rPr lang="en-US" sz="900" dirty="0">
                <a:solidFill>
                  <a:srgbClr val="E2E8F0"/>
                </a:solidFill>
                <a:latin typeface="Calibri" pitchFamily="34" charset="0"/>
                <a:ea typeface="Calibri" pitchFamily="34" charset="-122"/>
                <a:cs typeface="Calibri" pitchFamily="34" charset="-120"/>
              </a:rPr>
              <a:t>Proves records came from legitimate zone</a:t>
            </a:r>
            <a:endParaRPr lang="en-US" sz="900" dirty="0"/>
          </a:p>
        </p:txBody>
      </p:sp>
      <p:sp>
        <p:nvSpPr>
          <p:cNvPr id="21" name="Shape 19"/>
          <p:cNvSpPr/>
          <p:nvPr/>
        </p:nvSpPr>
        <p:spPr>
          <a:xfrm>
            <a:off x="3337560" y="4114800"/>
            <a:ext cx="2514600" cy="502920"/>
          </a:xfrm>
          <a:prstGeom prst="rect">
            <a:avLst/>
          </a:prstGeom>
          <a:solidFill>
            <a:srgbClr val="22C55E">
              <a:alpha val="18000"/>
            </a:srgbClr>
          </a:solidFill>
          <a:ln w="12700">
            <a:solidFill>
              <a:srgbClr val="22C55E"/>
            </a:solidFill>
            <a:prstDash val="solid"/>
          </a:ln>
        </p:spPr>
      </p:sp>
      <p:sp>
        <p:nvSpPr>
          <p:cNvPr id="22" name="Text 20"/>
          <p:cNvSpPr/>
          <p:nvPr/>
        </p:nvSpPr>
        <p:spPr>
          <a:xfrm>
            <a:off x="3337560" y="4114800"/>
            <a:ext cx="1005840" cy="502920"/>
          </a:xfrm>
          <a:prstGeom prst="rect">
            <a:avLst/>
          </a:prstGeom>
          <a:noFill/>
          <a:ln/>
        </p:spPr>
        <p:txBody>
          <a:bodyPr wrap="square" rtlCol="0" anchor="ctr"/>
          <a:lstStyle/>
          <a:p>
            <a:pPr algn="ctr" indent="0" marL="0">
              <a:buNone/>
            </a:pPr>
            <a:r>
              <a:rPr lang="en-US" sz="1000" b="1" dirty="0">
                <a:solidFill>
                  <a:srgbClr val="22C55E"/>
                </a:solidFill>
                <a:latin typeface="Calibri" pitchFamily="34" charset="0"/>
                <a:ea typeface="Calibri" pitchFamily="34" charset="-122"/>
                <a:cs typeface="Calibri" pitchFamily="34" charset="-120"/>
              </a:rPr>
              <a:t>Data Integrity: </a:t>
            </a:r>
            <a:endParaRPr lang="en-US" sz="1000" dirty="0"/>
          </a:p>
        </p:txBody>
      </p:sp>
      <p:sp>
        <p:nvSpPr>
          <p:cNvPr id="23" name="Text 21"/>
          <p:cNvSpPr/>
          <p:nvPr/>
        </p:nvSpPr>
        <p:spPr>
          <a:xfrm>
            <a:off x="4343400" y="4114800"/>
            <a:ext cx="1417320" cy="502920"/>
          </a:xfrm>
          <a:prstGeom prst="rect">
            <a:avLst/>
          </a:prstGeom>
          <a:noFill/>
          <a:ln/>
        </p:spPr>
        <p:txBody>
          <a:bodyPr wrap="square" rtlCol="0" anchor="ctr"/>
          <a:lstStyle/>
          <a:p>
            <a:pPr indent="0" marL="0">
              <a:buNone/>
            </a:pPr>
            <a:r>
              <a:rPr lang="en-US" sz="900" dirty="0">
                <a:solidFill>
                  <a:srgbClr val="E2E8F0"/>
                </a:solidFill>
                <a:latin typeface="Calibri" pitchFamily="34" charset="0"/>
                <a:ea typeface="Calibri" pitchFamily="34" charset="-122"/>
                <a:cs typeface="Calibri" pitchFamily="34" charset="-120"/>
              </a:rPr>
              <a:t>Detects any tampering in transit</a:t>
            </a:r>
            <a:endParaRPr lang="en-US" sz="900" dirty="0"/>
          </a:p>
        </p:txBody>
      </p:sp>
      <p:sp>
        <p:nvSpPr>
          <p:cNvPr id="24" name="Shape 22"/>
          <p:cNvSpPr/>
          <p:nvPr/>
        </p:nvSpPr>
        <p:spPr>
          <a:xfrm>
            <a:off x="6126480" y="4114800"/>
            <a:ext cx="2514600" cy="502920"/>
          </a:xfrm>
          <a:prstGeom prst="rect">
            <a:avLst/>
          </a:prstGeom>
          <a:solidFill>
            <a:srgbClr val="FBBF24">
              <a:alpha val="18000"/>
            </a:srgbClr>
          </a:solidFill>
          <a:ln w="12700">
            <a:solidFill>
              <a:srgbClr val="FBBF24"/>
            </a:solidFill>
            <a:prstDash val="solid"/>
          </a:ln>
        </p:spPr>
      </p:sp>
      <p:sp>
        <p:nvSpPr>
          <p:cNvPr id="25" name="Text 23"/>
          <p:cNvSpPr/>
          <p:nvPr/>
        </p:nvSpPr>
        <p:spPr>
          <a:xfrm>
            <a:off x="6126480" y="4114800"/>
            <a:ext cx="1005840" cy="502920"/>
          </a:xfrm>
          <a:prstGeom prst="rect">
            <a:avLst/>
          </a:prstGeom>
          <a:noFill/>
          <a:ln/>
        </p:spPr>
        <p:txBody>
          <a:bodyPr wrap="square" rtlCol="0" anchor="ctr"/>
          <a:lstStyle/>
          <a:p>
            <a:pPr algn="ctr" indent="0" marL="0">
              <a:buNone/>
            </a:pPr>
            <a:r>
              <a:rPr lang="en-US" sz="1000" b="1" dirty="0">
                <a:solidFill>
                  <a:srgbClr val="FBBF24"/>
                </a:solidFill>
                <a:latin typeface="Calibri" pitchFamily="34" charset="0"/>
                <a:ea typeface="Calibri" pitchFamily="34" charset="-122"/>
                <a:cs typeface="Calibri" pitchFamily="34" charset="-120"/>
              </a:rPr>
              <a:t>Chain of Trust: </a:t>
            </a:r>
            <a:endParaRPr lang="en-US" sz="1000" dirty="0"/>
          </a:p>
        </p:txBody>
      </p:sp>
      <p:sp>
        <p:nvSpPr>
          <p:cNvPr id="26" name="Text 24"/>
          <p:cNvSpPr/>
          <p:nvPr/>
        </p:nvSpPr>
        <p:spPr>
          <a:xfrm>
            <a:off x="7132320" y="4114800"/>
            <a:ext cx="1417320" cy="502920"/>
          </a:xfrm>
          <a:prstGeom prst="rect">
            <a:avLst/>
          </a:prstGeom>
          <a:noFill/>
          <a:ln/>
        </p:spPr>
        <p:txBody>
          <a:bodyPr wrap="square" rtlCol="0" anchor="ctr"/>
          <a:lstStyle/>
          <a:p>
            <a:pPr indent="0" marL="0">
              <a:buNone/>
            </a:pPr>
            <a:r>
              <a:rPr lang="en-US" sz="900" dirty="0">
                <a:solidFill>
                  <a:srgbClr val="E2E8F0"/>
                </a:solidFill>
                <a:latin typeface="Calibri" pitchFamily="34" charset="0"/>
                <a:ea typeface="Calibri" pitchFamily="34" charset="-122"/>
                <a:cs typeface="Calibri" pitchFamily="34" charset="-120"/>
              </a:rPr>
              <a:t>Signature chain back to ICANN root</a:t>
            </a:r>
            <a:endParaRPr lang="en-US" sz="900" dirty="0"/>
          </a:p>
        </p:txBody>
      </p:sp>
      <p:sp>
        <p:nvSpPr>
          <p:cNvPr id="27" name="Shape 25"/>
          <p:cNvSpPr/>
          <p:nvPr/>
        </p:nvSpPr>
        <p:spPr>
          <a:xfrm>
            <a:off x="0" y="4892040"/>
            <a:ext cx="9144000" cy="256032"/>
          </a:xfrm>
          <a:prstGeom prst="rect">
            <a:avLst/>
          </a:prstGeom>
          <a:solidFill>
            <a:srgbClr val="060A12"/>
          </a:solidFill>
          <a:ln w="12700">
            <a:solidFill>
              <a:srgbClr val="1E3A5F"/>
            </a:solidFill>
            <a:prstDash val="solid"/>
          </a:ln>
        </p:spPr>
      </p:sp>
      <p:sp>
        <p:nvSpPr>
          <p:cNvPr id="28" name="Text 26"/>
          <p:cNvSpPr/>
          <p:nvPr/>
        </p:nvSpPr>
        <p:spPr>
          <a:xfrm>
            <a:off x="0" y="4892040"/>
            <a:ext cx="9144000" cy="256032"/>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Dhruv  ·  Information Security Assignment 2  ·  DNS Cache Poisoning: Vulnerabilities &amp; Mitigations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Cache Poisoning</dc:title>
  <dc:subject>PptxGenJS Presentation</dc:subject>
  <dc:creator>Dhruv</dc:creator>
  <cp:lastModifiedBy>Dhruv</cp:lastModifiedBy>
  <cp:revision>1</cp:revision>
  <dcterms:created xsi:type="dcterms:W3CDTF">2026-04-11T10:21:37Z</dcterms:created>
  <dcterms:modified xsi:type="dcterms:W3CDTF">2026-04-11T10:21:37Z</dcterms:modified>
</cp:coreProperties>
</file>