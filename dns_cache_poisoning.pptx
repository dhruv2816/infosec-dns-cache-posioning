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IN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4F7712C-71B9-4255-9DE8-004CD6AD8537}" type="slidenum"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9B361B-0CED-443C-88AC-AE73EADDD6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BE270B-0C6D-4B31-B77E-EA4880B5B5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B88820-F91B-4D91-8547-6716B27B65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BBA3AB-B504-4CCD-A93C-B364BACE65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1A74F9-0096-42E0-9DFE-2AACBC07571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68EEDF-C50A-455D-A615-D897CFA065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1309C8-7046-4AD3-98F1-CE84AB234C2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3D477C-9251-445D-84AE-57BCA9E0BC3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0C9B6B-5DA8-41A0-9FBC-CE5DE88C50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IN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IN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747600" cy="514224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3749040" y="0"/>
            <a:ext cx="48960" cy="51422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84120" y="77724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1" strike="noStrike">
                <a:solidFill>
                  <a:srgbClr val="3b82f6"/>
                </a:solidFill>
                <a:latin typeface="Consolas"/>
                <a:ea typeface="Consolas"/>
              </a:rPr>
              <a:t>INFORMATION SECURITY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84120" y="111564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8bb8f0"/>
                </a:solidFill>
                <a:latin typeface="Calibri"/>
                <a:ea typeface="Calibri"/>
              </a:rPr>
              <a:t>Assignment 2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84120" y="1572840"/>
            <a:ext cx="319896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fffff"/>
                </a:solidFill>
                <a:latin typeface="Calibri"/>
                <a:ea typeface="Calibri"/>
              </a:rPr>
              <a:t>DNS Cache</a:t>
            </a:r>
            <a:endParaRPr b="0" lang="en-IN" sz="3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fffff"/>
                </a:solidFill>
                <a:latin typeface="Calibri"/>
                <a:ea typeface="Calibri"/>
              </a:rPr>
              <a:t>Poisoning</a:t>
            </a:r>
            <a:endParaRPr b="0" lang="en-IN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384120" y="4663440"/>
            <a:ext cx="126720" cy="126720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859680" y="4663440"/>
            <a:ext cx="126720" cy="126720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1334880" y="4663440"/>
            <a:ext cx="126720" cy="126720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1810440" y="4663440"/>
            <a:ext cx="126720" cy="126720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041720" y="1097280"/>
            <a:ext cx="4753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f2b5b"/>
                </a:solidFill>
                <a:latin typeface="Calibri"/>
                <a:ea typeface="Calibri"/>
              </a:rPr>
              <a:t>Network Attack &amp; Defensive Strategy</a:t>
            </a:r>
            <a:endParaRPr b="0" lang="en-IN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041720" y="1691640"/>
            <a:ext cx="47534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74151"/>
                </a:solidFill>
                <a:latin typeface="Calibri"/>
                <a:ea typeface="Calibri"/>
              </a:rPr>
              <a:t>A live demonstration of DNS Cache Poisoning on a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74151"/>
                </a:solidFill>
                <a:latin typeface="Calibri"/>
                <a:ea typeface="Calibri"/>
              </a:rPr>
              <a:t>vulnerable host and its complete mitigation on a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74151"/>
                </a:solidFill>
                <a:latin typeface="Calibri"/>
                <a:ea typeface="Calibri"/>
              </a:rPr>
              <a:t>hardened host - visualised on a real-time dashboard.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4041720" y="2697480"/>
            <a:ext cx="4662000" cy="2592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4041720" y="2834640"/>
            <a:ext cx="4753440" cy="1233000"/>
          </a:xfrm>
          <a:prstGeom prst="rect">
            <a:avLst/>
          </a:prstGeom>
          <a:solidFill>
            <a:srgbClr val="dbeafe"/>
          </a:solidFill>
          <a:ln w="635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4041720" y="2834640"/>
            <a:ext cx="53280" cy="123300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4251960" y="2907720"/>
            <a:ext cx="4387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56db"/>
                </a:solidFill>
                <a:latin typeface="Calibri"/>
                <a:ea typeface="Calibri"/>
              </a:rPr>
              <a:t>Aim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4251960" y="3200400"/>
            <a:ext cx="4433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To showcase a live demo of a network attack (DNS Cache Poisoning) and present a defensive strategy to solve it.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041720" y="42246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7280"/>
                </a:solidFill>
                <a:latin typeface="Calibri"/>
                <a:ea typeface="Calibri"/>
              </a:rPr>
              <a:t>Presenter  </a:t>
            </a:r>
            <a:r>
              <a:rPr b="1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Dhruv, Krishiv, Ujjwal, Sayuj, Nikhat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274320" y="91440"/>
            <a:ext cx="410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02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804600" y="6408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What is DNS Cache Poisoning?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365760" y="804600"/>
            <a:ext cx="4113360" cy="1900440"/>
          </a:xfrm>
          <a:prstGeom prst="rect">
            <a:avLst/>
          </a:prstGeom>
          <a:solidFill>
            <a:srgbClr val="dbeafe"/>
          </a:solidFill>
          <a:ln w="635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4"/>
          <p:cNvSpPr/>
          <p:nvPr/>
        </p:nvSpPr>
        <p:spPr>
          <a:xfrm>
            <a:off x="365760" y="804600"/>
            <a:ext cx="53280" cy="19004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567000" y="87768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56db"/>
                </a:solidFill>
                <a:latin typeface="Calibri"/>
                <a:ea typeface="Calibri"/>
              </a:rPr>
              <a:t>Normal DNS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6"/>
          <p:cNvSpPr/>
          <p:nvPr/>
        </p:nvSpPr>
        <p:spPr>
          <a:xfrm>
            <a:off x="567000" y="1261800"/>
            <a:ext cx="181440" cy="18144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7"/>
          <p:cNvSpPr/>
          <p:nvPr/>
        </p:nvSpPr>
        <p:spPr>
          <a:xfrm>
            <a:off x="822960" y="1234440"/>
            <a:ext cx="3473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User types example.com in browser.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8"/>
          <p:cNvSpPr/>
          <p:nvPr/>
        </p:nvSpPr>
        <p:spPr>
          <a:xfrm>
            <a:off x="567000" y="1627560"/>
            <a:ext cx="181440" cy="18144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9"/>
          <p:cNvSpPr/>
          <p:nvPr/>
        </p:nvSpPr>
        <p:spPr>
          <a:xfrm>
            <a:off x="822960" y="1600200"/>
            <a:ext cx="3473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Browser asks the DNS resolver: What is the IP?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10"/>
          <p:cNvSpPr/>
          <p:nvPr/>
        </p:nvSpPr>
        <p:spPr>
          <a:xfrm>
            <a:off x="567000" y="1993320"/>
            <a:ext cx="181440" cy="18144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822960" y="1965960"/>
            <a:ext cx="3473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Resolver checks its cache - if found, returns it.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2"/>
          <p:cNvSpPr/>
          <p:nvPr/>
        </p:nvSpPr>
        <p:spPr>
          <a:xfrm>
            <a:off x="567000" y="2359080"/>
            <a:ext cx="181440" cy="18144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3"/>
          <p:cNvSpPr/>
          <p:nvPr/>
        </p:nvSpPr>
        <p:spPr>
          <a:xfrm>
            <a:off x="822960" y="2331720"/>
            <a:ext cx="3473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Browser connects to the real server. 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4663440" y="804600"/>
            <a:ext cx="4113360" cy="1900440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15"/>
          <p:cNvSpPr/>
          <p:nvPr/>
        </p:nvSpPr>
        <p:spPr>
          <a:xfrm>
            <a:off x="4663440" y="804600"/>
            <a:ext cx="53280" cy="1900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4864680" y="877680"/>
            <a:ext cx="3747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Calibri"/>
                <a:ea typeface="Calibri"/>
              </a:rPr>
              <a:t>The Attack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7"/>
          <p:cNvSpPr/>
          <p:nvPr/>
        </p:nvSpPr>
        <p:spPr>
          <a:xfrm>
            <a:off x="4864680" y="1261800"/>
            <a:ext cx="181440" cy="18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8"/>
          <p:cNvSpPr/>
          <p:nvPr/>
        </p:nvSpPr>
        <p:spPr>
          <a:xfrm>
            <a:off x="5120640" y="1234440"/>
            <a:ext cx="3473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Attacker sends thousands of fake DNS replies.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19"/>
          <p:cNvSpPr/>
          <p:nvPr/>
        </p:nvSpPr>
        <p:spPr>
          <a:xfrm>
            <a:off x="4864680" y="1627560"/>
            <a:ext cx="181440" cy="18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20"/>
          <p:cNvSpPr/>
          <p:nvPr/>
        </p:nvSpPr>
        <p:spPr>
          <a:xfrm>
            <a:off x="5120640" y="1600200"/>
            <a:ext cx="3473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One fake reply matches the Transaction ID.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864680" y="1993320"/>
            <a:ext cx="181440" cy="18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22"/>
          <p:cNvSpPr/>
          <p:nvPr/>
        </p:nvSpPr>
        <p:spPr>
          <a:xfrm>
            <a:off x="5120640" y="1965960"/>
            <a:ext cx="3473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Resolver caches the FAKE IP for the real domain.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23"/>
          <p:cNvSpPr/>
          <p:nvPr/>
        </p:nvSpPr>
        <p:spPr>
          <a:xfrm>
            <a:off x="4864680" y="2359080"/>
            <a:ext cx="181440" cy="18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24"/>
          <p:cNvSpPr/>
          <p:nvPr/>
        </p:nvSpPr>
        <p:spPr>
          <a:xfrm>
            <a:off x="5120640" y="2331720"/>
            <a:ext cx="34732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Every user gets redirected - silently. 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25"/>
          <p:cNvSpPr/>
          <p:nvPr/>
        </p:nvSpPr>
        <p:spPr>
          <a:xfrm>
            <a:off x="365760" y="2853000"/>
            <a:ext cx="8411040" cy="592920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26"/>
          <p:cNvSpPr/>
          <p:nvPr/>
        </p:nvSpPr>
        <p:spPr>
          <a:xfrm>
            <a:off x="365760" y="2853000"/>
            <a:ext cx="53280" cy="59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27"/>
          <p:cNvSpPr/>
          <p:nvPr/>
        </p:nvSpPr>
        <p:spPr>
          <a:xfrm>
            <a:off x="567000" y="2853000"/>
            <a:ext cx="11872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dc2626"/>
                </a:solidFill>
                <a:latin typeface="Calibri"/>
                <a:ea typeface="Calibri"/>
              </a:rPr>
              <a:t>Impact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8"/>
          <p:cNvSpPr/>
          <p:nvPr/>
        </p:nvSpPr>
        <p:spPr>
          <a:xfrm>
            <a:off x="1920240" y="2853000"/>
            <a:ext cx="66736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Phishing  ·  Credential Theft  ·  Man-in-the-Middle  ·  Complete traffic hijacking - victim has no idea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9"/>
          <p:cNvSpPr/>
          <p:nvPr/>
        </p:nvSpPr>
        <p:spPr>
          <a:xfrm>
            <a:off x="365760" y="3611880"/>
            <a:ext cx="8411040" cy="867240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30"/>
          <p:cNvSpPr/>
          <p:nvPr/>
        </p:nvSpPr>
        <p:spPr>
          <a:xfrm>
            <a:off x="365760" y="3611880"/>
            <a:ext cx="53280" cy="86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31"/>
          <p:cNvSpPr/>
          <p:nvPr/>
        </p:nvSpPr>
        <p:spPr>
          <a:xfrm>
            <a:off x="567000" y="3675960"/>
            <a:ext cx="79538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d97706"/>
                </a:solidFill>
                <a:latin typeface="Calibri"/>
                <a:ea typeface="Calibri"/>
              </a:rPr>
              <a:t>Root Cause - The Kaminsky Bug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32"/>
          <p:cNvSpPr/>
          <p:nvPr/>
        </p:nvSpPr>
        <p:spPr>
          <a:xfrm>
            <a:off x="567000" y="3959280"/>
            <a:ext cx="7953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Early DNS resolvers used predictable Transaction IDs and fixed source ports - making it trivial to forge a matching response before the real server could reply.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3"/>
          <p:cNvSpPr/>
          <p:nvPr/>
        </p:nvSpPr>
        <p:spPr>
          <a:xfrm>
            <a:off x="0" y="4937760"/>
            <a:ext cx="9142560" cy="20448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34"/>
          <p:cNvSpPr/>
          <p:nvPr/>
        </p:nvSpPr>
        <p:spPr>
          <a:xfrm>
            <a:off x="365760" y="4937760"/>
            <a:ext cx="84110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Information Security · Assignment 2 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274320" y="91440"/>
            <a:ext cx="410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03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804600" y="6408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Lab Setup - The Complete Architecture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804600" y="402480"/>
            <a:ext cx="8045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Isolated Docker Network · 10.0.0.0/24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365760" y="804600"/>
            <a:ext cx="8411040" cy="3276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5"/>
          <p:cNvSpPr/>
          <p:nvPr/>
        </p:nvSpPr>
        <p:spPr>
          <a:xfrm>
            <a:off x="457200" y="804600"/>
            <a:ext cx="3643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#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6"/>
          <p:cNvSpPr/>
          <p:nvPr/>
        </p:nvSpPr>
        <p:spPr>
          <a:xfrm>
            <a:off x="960120" y="804600"/>
            <a:ext cx="21474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Component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3246120" y="804600"/>
            <a:ext cx="1370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IP Address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709160" y="804600"/>
            <a:ext cx="3884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Role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365760" y="1188720"/>
            <a:ext cx="8411040" cy="492480"/>
          </a:xfrm>
          <a:prstGeom prst="rect">
            <a:avLst/>
          </a:prstGeom>
          <a:solidFill>
            <a:srgbClr val="fee2e2"/>
          </a:solidFill>
          <a:ln w="381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57200" y="1188720"/>
            <a:ext cx="36432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c2626"/>
                </a:solidFill>
                <a:latin typeface="Consolas"/>
                <a:ea typeface="Consolas"/>
              </a:rPr>
              <a:t>1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960120" y="1188720"/>
            <a:ext cx="214740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dns(Vulnerable Host)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2"/>
          <p:cNvSpPr/>
          <p:nvPr/>
        </p:nvSpPr>
        <p:spPr>
          <a:xfrm>
            <a:off x="3246120" y="1188720"/>
            <a:ext cx="13701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10.0.0.2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4709160" y="1188720"/>
            <a:ext cx="38847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Custom Python DNS server - fixed port, tiny TxID range, no validation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4"/>
          <p:cNvSpPr/>
          <p:nvPr/>
        </p:nvSpPr>
        <p:spPr>
          <a:xfrm>
            <a:off x="365760" y="1737360"/>
            <a:ext cx="8411040" cy="492480"/>
          </a:xfrm>
          <a:prstGeom prst="rect">
            <a:avLst/>
          </a:prstGeom>
          <a:solidFill>
            <a:srgbClr val="dcfce7"/>
          </a:solidFill>
          <a:ln w="381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5"/>
          <p:cNvSpPr/>
          <p:nvPr/>
        </p:nvSpPr>
        <p:spPr>
          <a:xfrm>
            <a:off x="457200" y="1737360"/>
            <a:ext cx="36432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6a34a"/>
                </a:solidFill>
                <a:latin typeface="Consolas"/>
                <a:ea typeface="Consolas"/>
              </a:rPr>
              <a:t>2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960120" y="1737360"/>
            <a:ext cx="214740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dns_hardened(Secure Host)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3246120" y="1737360"/>
            <a:ext cx="13701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10.0.0.6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8"/>
          <p:cNvSpPr/>
          <p:nvPr/>
        </p:nvSpPr>
        <p:spPr>
          <a:xfrm>
            <a:off x="4709160" y="1737360"/>
            <a:ext cx="38847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Hardened Python DNS server - random port, CSPRNG, TSIG verification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19"/>
          <p:cNvSpPr/>
          <p:nvPr/>
        </p:nvSpPr>
        <p:spPr>
          <a:xfrm>
            <a:off x="365760" y="2286000"/>
            <a:ext cx="8411040" cy="492480"/>
          </a:xfrm>
          <a:prstGeom prst="rect">
            <a:avLst/>
          </a:prstGeom>
          <a:solidFill>
            <a:srgbClr val="fee2e2"/>
          </a:solidFill>
          <a:ln w="381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457200" y="2286000"/>
            <a:ext cx="36432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c2626"/>
                </a:solidFill>
                <a:latin typeface="Consolas"/>
                <a:ea typeface="Consolas"/>
              </a:rPr>
              <a:t>3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21"/>
          <p:cNvSpPr/>
          <p:nvPr/>
        </p:nvSpPr>
        <p:spPr>
          <a:xfrm>
            <a:off x="960120" y="2286000"/>
            <a:ext cx="214740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attacker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3246120" y="2286000"/>
            <a:ext cx="13701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10.0.0.4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23"/>
          <p:cNvSpPr/>
          <p:nvPr/>
        </p:nvSpPr>
        <p:spPr>
          <a:xfrm>
            <a:off x="4709160" y="2286000"/>
            <a:ext cx="38847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Runs multi-threaded attack script + hosts the phishing page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4"/>
          <p:cNvSpPr/>
          <p:nvPr/>
        </p:nvSpPr>
        <p:spPr>
          <a:xfrm>
            <a:off x="365760" y="2834640"/>
            <a:ext cx="8411040" cy="492480"/>
          </a:xfrm>
          <a:prstGeom prst="rect">
            <a:avLst/>
          </a:prstGeom>
          <a:solidFill>
            <a:srgbClr val="dbeafe"/>
          </a:solidFill>
          <a:ln w="381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57200" y="2834640"/>
            <a:ext cx="36432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a56db"/>
                </a:solidFill>
                <a:latin typeface="Consolas"/>
                <a:ea typeface="Consolas"/>
              </a:rPr>
              <a:t>4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26"/>
          <p:cNvSpPr/>
          <p:nvPr/>
        </p:nvSpPr>
        <p:spPr>
          <a:xfrm>
            <a:off x="960120" y="2834640"/>
            <a:ext cx="214740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victim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3246120" y="2834640"/>
            <a:ext cx="13701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10.0.0.3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4709160" y="2834640"/>
            <a:ext cx="38847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Innocent user - DNS points to the vulnerable resolver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365760" y="3383280"/>
            <a:ext cx="8411040" cy="492480"/>
          </a:xfrm>
          <a:prstGeom prst="rect">
            <a:avLst/>
          </a:prstGeom>
          <a:solidFill>
            <a:srgbClr val="dbeafe"/>
          </a:solidFill>
          <a:ln w="381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457200" y="3383280"/>
            <a:ext cx="36432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a56db"/>
                </a:solidFill>
                <a:latin typeface="Consolas"/>
                <a:ea typeface="Consolas"/>
              </a:rPr>
              <a:t>5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960120" y="3383280"/>
            <a:ext cx="214740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victim2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2"/>
          <p:cNvSpPr/>
          <p:nvPr/>
        </p:nvSpPr>
        <p:spPr>
          <a:xfrm>
            <a:off x="3246120" y="3383280"/>
            <a:ext cx="13701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10.0.0.7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4709160" y="3383280"/>
            <a:ext cx="38847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Innocent user - DNS points to the hardened resolver (shows immunity)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4"/>
          <p:cNvSpPr/>
          <p:nvPr/>
        </p:nvSpPr>
        <p:spPr>
          <a:xfrm>
            <a:off x="365760" y="3931920"/>
            <a:ext cx="8411040" cy="492480"/>
          </a:xfrm>
          <a:prstGeom prst="rect">
            <a:avLst/>
          </a:prstGeom>
          <a:solidFill>
            <a:srgbClr val="f8fafc"/>
          </a:solidFill>
          <a:ln w="3810">
            <a:solidFill>
              <a:srgbClr val="3741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35"/>
          <p:cNvSpPr/>
          <p:nvPr/>
        </p:nvSpPr>
        <p:spPr>
          <a:xfrm>
            <a:off x="457200" y="3931920"/>
            <a:ext cx="36432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74151"/>
                </a:solidFill>
                <a:latin typeface="Consolas"/>
                <a:ea typeface="Consolas"/>
              </a:rPr>
              <a:t>6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6"/>
          <p:cNvSpPr/>
          <p:nvPr/>
        </p:nvSpPr>
        <p:spPr>
          <a:xfrm>
            <a:off x="960120" y="3931920"/>
            <a:ext cx="214740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upstream_dns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37"/>
          <p:cNvSpPr/>
          <p:nvPr/>
        </p:nvSpPr>
        <p:spPr>
          <a:xfrm>
            <a:off x="3246120" y="3931920"/>
            <a:ext cx="13701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10.0.0.5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38"/>
          <p:cNvSpPr/>
          <p:nvPr/>
        </p:nvSpPr>
        <p:spPr>
          <a:xfrm>
            <a:off x="4709160" y="3931920"/>
            <a:ext cx="38847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Authoritative server - signs every response with HMAC-SHA256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39"/>
          <p:cNvSpPr/>
          <p:nvPr/>
        </p:nvSpPr>
        <p:spPr>
          <a:xfrm>
            <a:off x="365760" y="4480560"/>
            <a:ext cx="8411040" cy="492480"/>
          </a:xfrm>
          <a:prstGeom prst="rect">
            <a:avLst/>
          </a:prstGeom>
          <a:solidFill>
            <a:srgbClr val="fef3c7"/>
          </a:solidFill>
          <a:ln w="381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40"/>
          <p:cNvSpPr/>
          <p:nvPr/>
        </p:nvSpPr>
        <p:spPr>
          <a:xfrm>
            <a:off x="457200" y="4480560"/>
            <a:ext cx="36432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97706"/>
                </a:solidFill>
                <a:latin typeface="Consolas"/>
                <a:ea typeface="Consolas"/>
              </a:rPr>
              <a:t>7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41"/>
          <p:cNvSpPr/>
          <p:nvPr/>
        </p:nvSpPr>
        <p:spPr>
          <a:xfrm>
            <a:off x="960120" y="4480560"/>
            <a:ext cx="214740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monitor(Live Dashboard)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2"/>
          <p:cNvSpPr/>
          <p:nvPr/>
        </p:nvSpPr>
        <p:spPr>
          <a:xfrm>
            <a:off x="3246120" y="4480560"/>
            <a:ext cx="13701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10.0.0.8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3"/>
          <p:cNvSpPr/>
          <p:nvPr/>
        </p:nvSpPr>
        <p:spPr>
          <a:xfrm>
            <a:off x="4709160" y="4480560"/>
            <a:ext cx="388476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Real-time web UI at http://localhost:8080 - shows attacks, blocks, cache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4"/>
          <p:cNvSpPr/>
          <p:nvPr/>
        </p:nvSpPr>
        <p:spPr>
          <a:xfrm>
            <a:off x="0" y="4937760"/>
            <a:ext cx="9142560" cy="20448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45"/>
          <p:cNvSpPr/>
          <p:nvPr/>
        </p:nvSpPr>
        <p:spPr>
          <a:xfrm>
            <a:off x="365760" y="4937760"/>
            <a:ext cx="84110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All containers run in an isolated Docker bridge network - no real systems are affected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274320" y="91440"/>
            <a:ext cx="410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04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804600" y="6408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The Vulnerable Host - Why It Gets Poisoned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804600" y="402480"/>
            <a:ext cx="8045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dns  ·  10.0.0.2  ·  dns/server.py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365760" y="777240"/>
            <a:ext cx="84110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We built a custom Python DNS resolver with three intentional weaknesses: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"/>
          <p:cNvSpPr/>
          <p:nvPr/>
        </p:nvSpPr>
        <p:spPr>
          <a:xfrm>
            <a:off x="365760" y="1143000"/>
            <a:ext cx="8411040" cy="118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365760" y="1143000"/>
            <a:ext cx="53280" cy="11872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7"/>
          <p:cNvSpPr/>
          <p:nvPr/>
        </p:nvSpPr>
        <p:spPr>
          <a:xfrm>
            <a:off x="567000" y="1252800"/>
            <a:ext cx="309600" cy="309600"/>
          </a:xfr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8"/>
          <p:cNvSpPr/>
          <p:nvPr/>
        </p:nvSpPr>
        <p:spPr>
          <a:xfrm>
            <a:off x="567000" y="125280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9"/>
          <p:cNvSpPr/>
          <p:nvPr/>
        </p:nvSpPr>
        <p:spPr>
          <a:xfrm>
            <a:off x="1005840" y="1234440"/>
            <a:ext cx="7405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Calibri"/>
                <a:ea typeface="Calibri"/>
              </a:rPr>
              <a:t>FLAW 1 - Predictable Port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10"/>
          <p:cNvSpPr/>
          <p:nvPr/>
        </p:nvSpPr>
        <p:spPr>
          <a:xfrm>
            <a:off x="567000" y="1563480"/>
            <a:ext cx="8026920" cy="32760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11"/>
          <p:cNvSpPr/>
          <p:nvPr/>
        </p:nvSpPr>
        <p:spPr>
          <a:xfrm>
            <a:off x="685800" y="1563480"/>
            <a:ext cx="7816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upstream_sock.bind(("10.0.0.2", 22222))   # ALWAYS the same port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12"/>
          <p:cNvSpPr/>
          <p:nvPr/>
        </p:nvSpPr>
        <p:spPr>
          <a:xfrm>
            <a:off x="567000" y="1965960"/>
            <a:ext cx="8026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→  </a:t>
            </a: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The attacker already knows exactly which port to target. No guessing required.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13"/>
          <p:cNvSpPr/>
          <p:nvPr/>
        </p:nvSpPr>
        <p:spPr>
          <a:xfrm>
            <a:off x="365760" y="2441520"/>
            <a:ext cx="8411040" cy="118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14"/>
          <p:cNvSpPr/>
          <p:nvPr/>
        </p:nvSpPr>
        <p:spPr>
          <a:xfrm>
            <a:off x="365760" y="2441520"/>
            <a:ext cx="53280" cy="118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5"/>
          <p:cNvSpPr/>
          <p:nvPr/>
        </p:nvSpPr>
        <p:spPr>
          <a:xfrm>
            <a:off x="567000" y="2551320"/>
            <a:ext cx="309600" cy="309600"/>
          </a:xfr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16"/>
          <p:cNvSpPr/>
          <p:nvPr/>
        </p:nvSpPr>
        <p:spPr>
          <a:xfrm>
            <a:off x="567000" y="255132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2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17"/>
          <p:cNvSpPr/>
          <p:nvPr/>
        </p:nvSpPr>
        <p:spPr>
          <a:xfrm>
            <a:off x="1005840" y="2532960"/>
            <a:ext cx="7405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97706"/>
                </a:solidFill>
                <a:latin typeface="Calibri"/>
                <a:ea typeface="Calibri"/>
              </a:rPr>
              <a:t>FLAW 2 - Tiny Transaction ID Range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18"/>
          <p:cNvSpPr/>
          <p:nvPr/>
        </p:nvSpPr>
        <p:spPr>
          <a:xfrm>
            <a:off x="567000" y="2862000"/>
            <a:ext cx="8026920" cy="32760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19"/>
          <p:cNvSpPr/>
          <p:nvPr/>
        </p:nvSpPr>
        <p:spPr>
          <a:xfrm>
            <a:off x="685800" y="2862000"/>
            <a:ext cx="7816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txid = random.randint(10000, 10050)   # Only 51 possible values!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0"/>
          <p:cNvSpPr/>
          <p:nvPr/>
        </p:nvSpPr>
        <p:spPr>
          <a:xfrm>
            <a:off x="567000" y="3264480"/>
            <a:ext cx="8026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→  </a:t>
            </a: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The attacker blasts all 51 IDs in one burst. A collision is nearly instant.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1"/>
          <p:cNvSpPr/>
          <p:nvPr/>
        </p:nvSpPr>
        <p:spPr>
          <a:xfrm>
            <a:off x="365760" y="3740040"/>
            <a:ext cx="8411040" cy="118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22"/>
          <p:cNvSpPr/>
          <p:nvPr/>
        </p:nvSpPr>
        <p:spPr>
          <a:xfrm>
            <a:off x="365760" y="3740040"/>
            <a:ext cx="53280" cy="11872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23"/>
          <p:cNvSpPr/>
          <p:nvPr/>
        </p:nvSpPr>
        <p:spPr>
          <a:xfrm>
            <a:off x="567000" y="3849480"/>
            <a:ext cx="309600" cy="309600"/>
          </a:xfr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24"/>
          <p:cNvSpPr/>
          <p:nvPr/>
        </p:nvSpPr>
        <p:spPr>
          <a:xfrm>
            <a:off x="567000" y="384948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3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25"/>
          <p:cNvSpPr/>
          <p:nvPr/>
        </p:nvSpPr>
        <p:spPr>
          <a:xfrm>
            <a:off x="1005840" y="3831480"/>
            <a:ext cx="7405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Calibri"/>
                <a:ea typeface="Calibri"/>
              </a:rPr>
              <a:t>FLAW 3 - No Verification Whatsoever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26"/>
          <p:cNvSpPr/>
          <p:nvPr/>
        </p:nvSpPr>
        <p:spPr>
          <a:xfrm>
            <a:off x="567000" y="4160520"/>
            <a:ext cx="8026920" cy="32760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27"/>
          <p:cNvSpPr/>
          <p:nvPr/>
        </p:nvSpPr>
        <p:spPr>
          <a:xfrm>
            <a:off x="685800" y="4160520"/>
            <a:ext cx="7816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# No source-IP check. No HMAC. Accept ANY reply with a matching TxID.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28"/>
          <p:cNvSpPr/>
          <p:nvPr/>
        </p:nvSpPr>
        <p:spPr>
          <a:xfrm>
            <a:off x="567000" y="4563000"/>
            <a:ext cx="8026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→  </a:t>
            </a: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Any spoofed packet that matches the TxID gets cached - no questions asked.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29"/>
          <p:cNvSpPr/>
          <p:nvPr/>
        </p:nvSpPr>
        <p:spPr>
          <a:xfrm>
            <a:off x="0" y="4937760"/>
            <a:ext cx="9142560" cy="20448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30"/>
          <p:cNvSpPr/>
          <p:nvPr/>
        </p:nvSpPr>
        <p:spPr>
          <a:xfrm>
            <a:off x="365760" y="4937760"/>
            <a:ext cx="84110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Combined attack surface: 1 known port × 51 TxIDs = 51 total packets needed - trivial to brute-force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274320" y="91440"/>
            <a:ext cx="410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05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804600" y="6408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Live Attack Demonstration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804600" y="402480"/>
            <a:ext cx="8045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attacker/attack.py  ·  multi-threaded Kaminsky flood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4"/>
          <p:cNvSpPr/>
          <p:nvPr/>
        </p:nvSpPr>
        <p:spPr>
          <a:xfrm>
            <a:off x="365760" y="786240"/>
            <a:ext cx="5119200" cy="711720"/>
          </a:xfrm>
          <a:prstGeom prst="rect">
            <a:avLst/>
          </a:prstGeom>
          <a:solidFill>
            <a:srgbClr val="ffffff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5"/>
          <p:cNvSpPr/>
          <p:nvPr/>
        </p:nvSpPr>
        <p:spPr>
          <a:xfrm>
            <a:off x="365760" y="786240"/>
            <a:ext cx="48960" cy="711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6"/>
          <p:cNvSpPr/>
          <p:nvPr/>
        </p:nvSpPr>
        <p:spPr>
          <a:xfrm>
            <a:off x="567000" y="987480"/>
            <a:ext cx="309600" cy="309600"/>
          </a:xfrm>
          <a:solidFill>
            <a:srgbClr val="6b7280"/>
          </a:solidFill>
          <a:ln w="12700">
            <a:solidFill>
              <a:srgbClr val="6b72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567000" y="98748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1005840" y="877680"/>
            <a:ext cx="43419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Cache Flush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9"/>
          <p:cNvSpPr/>
          <p:nvPr/>
        </p:nvSpPr>
        <p:spPr>
          <a:xfrm>
            <a:off x="1005840" y="1170360"/>
            <a:ext cx="4341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Restart vulnerable resolver to clear any cached records - fresh attack surface.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10"/>
          <p:cNvSpPr/>
          <p:nvPr/>
        </p:nvSpPr>
        <p:spPr>
          <a:xfrm>
            <a:off x="365760" y="1609200"/>
            <a:ext cx="5119200" cy="711720"/>
          </a:xfrm>
          <a:prstGeom prst="rect">
            <a:avLst/>
          </a:prstGeom>
          <a:solidFill>
            <a:srgbClr val="f8fafc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365760" y="1609200"/>
            <a:ext cx="48960" cy="7117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2"/>
          <p:cNvSpPr/>
          <p:nvPr/>
        </p:nvSpPr>
        <p:spPr>
          <a:xfrm>
            <a:off x="567000" y="1810440"/>
            <a:ext cx="309600" cy="309600"/>
          </a:xfr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567000" y="181044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2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1005840" y="1700640"/>
            <a:ext cx="43419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Start Phishing Server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5"/>
          <p:cNvSpPr/>
          <p:nvPr/>
        </p:nvSpPr>
        <p:spPr>
          <a:xfrm>
            <a:off x="1005840" y="1993320"/>
            <a:ext cx="4341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python3 -m http.server 80 on the attacker - fake IIT Jammu portal ready.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16"/>
          <p:cNvSpPr/>
          <p:nvPr/>
        </p:nvSpPr>
        <p:spPr>
          <a:xfrm>
            <a:off x="365760" y="2432160"/>
            <a:ext cx="5119200" cy="711720"/>
          </a:xfrm>
          <a:prstGeom prst="rect">
            <a:avLst/>
          </a:prstGeom>
          <a:solidFill>
            <a:srgbClr val="ffffff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17"/>
          <p:cNvSpPr/>
          <p:nvPr/>
        </p:nvSpPr>
        <p:spPr>
          <a:xfrm>
            <a:off x="365760" y="2432160"/>
            <a:ext cx="48960" cy="711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18"/>
          <p:cNvSpPr/>
          <p:nvPr/>
        </p:nvSpPr>
        <p:spPr>
          <a:xfrm>
            <a:off x="567000" y="2633400"/>
            <a:ext cx="309600" cy="309600"/>
          </a:xfr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567000" y="263340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3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20"/>
          <p:cNvSpPr/>
          <p:nvPr/>
        </p:nvSpPr>
        <p:spPr>
          <a:xfrm>
            <a:off x="1005840" y="2523600"/>
            <a:ext cx="43419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Trigger Thread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21"/>
          <p:cNvSpPr/>
          <p:nvPr/>
        </p:nvSpPr>
        <p:spPr>
          <a:xfrm>
            <a:off x="1005840" y="2816280"/>
            <a:ext cx="4341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Sends a real DNS query every 40ms → keeps the resolver waiting for an upstream reply → opens a live TxID slot.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22"/>
          <p:cNvSpPr/>
          <p:nvPr/>
        </p:nvSpPr>
        <p:spPr>
          <a:xfrm>
            <a:off x="365760" y="3255120"/>
            <a:ext cx="5119200" cy="711720"/>
          </a:xfrm>
          <a:prstGeom prst="rect">
            <a:avLst/>
          </a:prstGeom>
          <a:solidFill>
            <a:srgbClr val="f8fafc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23"/>
          <p:cNvSpPr/>
          <p:nvPr/>
        </p:nvSpPr>
        <p:spPr>
          <a:xfrm>
            <a:off x="365760" y="3255120"/>
            <a:ext cx="48960" cy="711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24"/>
          <p:cNvSpPr/>
          <p:nvPr/>
        </p:nvSpPr>
        <p:spPr>
          <a:xfrm>
            <a:off x="567000" y="3456360"/>
            <a:ext cx="309600" cy="309600"/>
          </a:xfr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567000" y="345636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4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26"/>
          <p:cNvSpPr/>
          <p:nvPr/>
        </p:nvSpPr>
        <p:spPr>
          <a:xfrm>
            <a:off x="1005840" y="3346560"/>
            <a:ext cx="43419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8× Flood Threads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27"/>
          <p:cNvSpPr/>
          <p:nvPr/>
        </p:nvSpPr>
        <p:spPr>
          <a:xfrm>
            <a:off x="1005840" y="3639240"/>
            <a:ext cx="4341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Each thread sprays spoofed UDP packets to port 22222, forging source IP as 10.0.0.5, covering all 51 TxIDs.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28"/>
          <p:cNvSpPr/>
          <p:nvPr/>
        </p:nvSpPr>
        <p:spPr>
          <a:xfrm>
            <a:off x="365760" y="4078080"/>
            <a:ext cx="5119200" cy="711720"/>
          </a:xfrm>
          <a:prstGeom prst="rect">
            <a:avLst/>
          </a:prstGeom>
          <a:solidFill>
            <a:srgbClr val="ffffff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29"/>
          <p:cNvSpPr/>
          <p:nvPr/>
        </p:nvSpPr>
        <p:spPr>
          <a:xfrm>
            <a:off x="365760" y="4078080"/>
            <a:ext cx="48960" cy="711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30"/>
          <p:cNvSpPr/>
          <p:nvPr/>
        </p:nvSpPr>
        <p:spPr>
          <a:xfrm>
            <a:off x="567000" y="4279320"/>
            <a:ext cx="309600" cy="309600"/>
          </a:xfr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567000" y="427932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5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32"/>
          <p:cNvSpPr/>
          <p:nvPr/>
        </p:nvSpPr>
        <p:spPr>
          <a:xfrm>
            <a:off x="1005840" y="4169520"/>
            <a:ext cx="43419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Race Won!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33"/>
          <p:cNvSpPr/>
          <p:nvPr/>
        </p:nvSpPr>
        <p:spPr>
          <a:xfrm>
            <a:off x="1005840" y="4462200"/>
            <a:ext cx="4341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One spoofed packet matches the active TxID → cache stores 10.0.0.4 as the IP → ALL victims affected.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34"/>
          <p:cNvSpPr/>
          <p:nvPr/>
        </p:nvSpPr>
        <p:spPr>
          <a:xfrm>
            <a:off x="5580000" y="786240"/>
            <a:ext cx="3473280" cy="3173040"/>
          </a:xfrm>
          <a:prstGeom prst="rect">
            <a:avLst/>
          </a:prstGeom>
          <a:solidFill>
            <a:srgbClr val="ffffff"/>
          </a:solidFill>
          <a:ln w="889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35"/>
          <p:cNvSpPr/>
          <p:nvPr/>
        </p:nvSpPr>
        <p:spPr>
          <a:xfrm>
            <a:off x="5580000" y="786240"/>
            <a:ext cx="3473280" cy="38268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36"/>
          <p:cNvSpPr/>
          <p:nvPr/>
        </p:nvSpPr>
        <p:spPr>
          <a:xfrm>
            <a:off x="5671440" y="786240"/>
            <a:ext cx="3290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Live Dashboard Shows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37"/>
          <p:cNvSpPr/>
          <p:nvPr/>
        </p:nvSpPr>
        <p:spPr>
          <a:xfrm>
            <a:off x="5580000" y="1243440"/>
            <a:ext cx="3473280" cy="47412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38"/>
          <p:cNvSpPr/>
          <p:nvPr/>
        </p:nvSpPr>
        <p:spPr>
          <a:xfrm>
            <a:off x="5689800" y="1243440"/>
            <a:ext cx="17359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Attack packets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39"/>
          <p:cNvSpPr/>
          <p:nvPr/>
        </p:nvSpPr>
        <p:spPr>
          <a:xfrm>
            <a:off x="7454520" y="1243440"/>
            <a:ext cx="1507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Thousands/sec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40"/>
          <p:cNvSpPr/>
          <p:nvPr/>
        </p:nvSpPr>
        <p:spPr>
          <a:xfrm>
            <a:off x="5580000" y="1774080"/>
            <a:ext cx="3473280" cy="47412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41"/>
          <p:cNvSpPr/>
          <p:nvPr/>
        </p:nvSpPr>
        <p:spPr>
          <a:xfrm>
            <a:off x="5689800" y="1774080"/>
            <a:ext cx="17359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Cache status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42"/>
          <p:cNvSpPr/>
          <p:nvPr/>
        </p:nvSpPr>
        <p:spPr>
          <a:xfrm>
            <a:off x="7454520" y="1774080"/>
            <a:ext cx="1507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 </a:t>
            </a: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POISONED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43"/>
          <p:cNvSpPr/>
          <p:nvPr/>
        </p:nvSpPr>
        <p:spPr>
          <a:xfrm>
            <a:off x="5580000" y="2304360"/>
            <a:ext cx="3473280" cy="47412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44"/>
          <p:cNvSpPr/>
          <p:nvPr/>
        </p:nvSpPr>
        <p:spPr>
          <a:xfrm>
            <a:off x="5689800" y="2304360"/>
            <a:ext cx="17359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Cached IP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45"/>
          <p:cNvSpPr/>
          <p:nvPr/>
        </p:nvSpPr>
        <p:spPr>
          <a:xfrm>
            <a:off x="7454520" y="2304360"/>
            <a:ext cx="1507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10.0.0.4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46"/>
          <p:cNvSpPr/>
          <p:nvPr/>
        </p:nvSpPr>
        <p:spPr>
          <a:xfrm>
            <a:off x="5580000" y="2834640"/>
            <a:ext cx="3473280" cy="47412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47"/>
          <p:cNvSpPr/>
          <p:nvPr/>
        </p:nvSpPr>
        <p:spPr>
          <a:xfrm>
            <a:off x="5689800" y="2834640"/>
            <a:ext cx="17359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Security alert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48"/>
          <p:cNvSpPr/>
          <p:nvPr/>
        </p:nvSpPr>
        <p:spPr>
          <a:xfrm>
            <a:off x="7454520" y="2834640"/>
            <a:ext cx="1507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97706"/>
                </a:solidFill>
                <a:latin typeface="Consolas"/>
                <a:ea typeface="Consolas"/>
              </a:rPr>
              <a:t>attack_detected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49"/>
          <p:cNvSpPr/>
          <p:nvPr/>
        </p:nvSpPr>
        <p:spPr>
          <a:xfrm>
            <a:off x="5580000" y="3364920"/>
            <a:ext cx="3473280" cy="47412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50"/>
          <p:cNvSpPr/>
          <p:nvPr/>
        </p:nvSpPr>
        <p:spPr>
          <a:xfrm>
            <a:off x="5689800" y="3364920"/>
            <a:ext cx="17359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Victim visit result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51"/>
          <p:cNvSpPr/>
          <p:nvPr/>
        </p:nvSpPr>
        <p:spPr>
          <a:xfrm>
            <a:off x="7454520" y="3364920"/>
            <a:ext cx="15073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Phishing page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52"/>
          <p:cNvSpPr/>
          <p:nvPr/>
        </p:nvSpPr>
        <p:spPr>
          <a:xfrm>
            <a:off x="360000" y="4900320"/>
            <a:ext cx="8411040" cy="27288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53"/>
          <p:cNvSpPr/>
          <p:nvPr/>
        </p:nvSpPr>
        <p:spPr>
          <a:xfrm>
            <a:off x="502920" y="49010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3b82f6"/>
                </a:solidFill>
                <a:latin typeface="Consolas"/>
                <a:ea typeface="Consolas"/>
              </a:rPr>
              <a:t>$ python3 attack.py sprightly-torrone-5f4946.netlify.app 10.0.0.4 --target both --threads 8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274320" y="91440"/>
            <a:ext cx="410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06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804600" y="6408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The Defensive Strategy - The Hardened Host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804600" y="402480"/>
            <a:ext cx="8045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dns_hardened  ·  10.0.0.6  ·  dns_hardened/server.py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365760" y="768240"/>
            <a:ext cx="84110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Goal: Make guessing mathematically impossible and forging cryptographically impossible.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365760" y="1078920"/>
            <a:ext cx="8411040" cy="1187280"/>
          </a:xfrm>
          <a:prstGeom prst="rect">
            <a:avLst/>
          </a:prstGeom>
          <a:solidFill>
            <a:srgbClr val="ffffff"/>
          </a:solidFill>
          <a:ln w="889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365760" y="1078920"/>
            <a:ext cx="53280" cy="11872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567000" y="1188720"/>
            <a:ext cx="309600" cy="309600"/>
          </a:xfr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567000" y="118872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1005840" y="1170360"/>
            <a:ext cx="7405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56db"/>
                </a:solidFill>
                <a:latin typeface="Calibri"/>
                <a:ea typeface="Calibri"/>
              </a:rPr>
              <a:t>DEFENSE 1 - Source Port Randomization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567000" y="1499760"/>
            <a:ext cx="8026920" cy="32760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685800" y="1499760"/>
            <a:ext cx="7816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sock.bind(("", 0))   # OS assigns a fresh random port every query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567000" y="1901880"/>
            <a:ext cx="8026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Instead of the known port 22222, the OS picks a random port from ~32,000 possibilities for every single query. Attacker must now guess the port too.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365760" y="2377440"/>
            <a:ext cx="8411040" cy="1187280"/>
          </a:xfrm>
          <a:prstGeom prst="rect">
            <a:avLst/>
          </a:prstGeom>
          <a:solidFill>
            <a:srgbClr val="ffffff"/>
          </a:solidFill>
          <a:ln w="889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365760" y="2377440"/>
            <a:ext cx="53280" cy="118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567000" y="2487240"/>
            <a:ext cx="309600" cy="309600"/>
          </a:xfr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567000" y="248724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2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1005840" y="2468880"/>
            <a:ext cx="7405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b82f6"/>
                </a:solidFill>
                <a:latin typeface="Calibri"/>
                <a:ea typeface="Calibri"/>
              </a:rPr>
              <a:t>DEFENSE 2 - Full Transaction ID Entropy (CSPRNG)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8"/>
          <p:cNvSpPr/>
          <p:nvPr/>
        </p:nvSpPr>
        <p:spPr>
          <a:xfrm>
            <a:off x="567000" y="2797920"/>
            <a:ext cx="8026920" cy="32760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685800" y="2797920"/>
            <a:ext cx="7816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txid = secrets.randbelow(65536)   # Full 16-bit, cryptographic random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567000" y="3200400"/>
            <a:ext cx="8026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65,536 IDs instead of 51. Combined with random ports: 32,000 × 65,536 ≈ 1.85 Billion possible combinations per query.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365760" y="3675960"/>
            <a:ext cx="8411040" cy="1187280"/>
          </a:xfrm>
          <a:prstGeom prst="rect">
            <a:avLst/>
          </a:prstGeom>
          <a:solidFill>
            <a:srgbClr val="ffffff"/>
          </a:solidFill>
          <a:ln w="889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2"/>
          <p:cNvSpPr/>
          <p:nvPr/>
        </p:nvSpPr>
        <p:spPr>
          <a:xfrm>
            <a:off x="365760" y="3675960"/>
            <a:ext cx="53280" cy="11872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Shape 23"/>
          <p:cNvSpPr/>
          <p:nvPr/>
        </p:nvSpPr>
        <p:spPr>
          <a:xfrm>
            <a:off x="567000" y="3785760"/>
            <a:ext cx="309600" cy="309600"/>
          </a:xfr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567000" y="378576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3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25"/>
          <p:cNvSpPr/>
          <p:nvPr/>
        </p:nvSpPr>
        <p:spPr>
          <a:xfrm>
            <a:off x="1005840" y="3767400"/>
            <a:ext cx="7405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a34a"/>
                </a:solidFill>
                <a:latin typeface="Calibri"/>
                <a:ea typeface="Calibri"/>
              </a:rPr>
              <a:t>DEFENSE 3 - TSIG Signatures (HMAC-SHA256)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6"/>
          <p:cNvSpPr/>
          <p:nvPr/>
        </p:nvSpPr>
        <p:spPr>
          <a:xfrm>
            <a:off x="567000" y="4096440"/>
            <a:ext cx="8026920" cy="32760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27"/>
          <p:cNvSpPr/>
          <p:nvPr/>
        </p:nvSpPr>
        <p:spPr>
          <a:xfrm>
            <a:off x="685800" y="4096440"/>
            <a:ext cx="7816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verify_tsig(domain, ip, ttl, sig)   # Validate before caching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28"/>
          <p:cNvSpPr/>
          <p:nvPr/>
        </p:nvSpPr>
        <p:spPr>
          <a:xfrm>
            <a:off x="567000" y="4498920"/>
            <a:ext cx="8026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The upstream server signs every response with a shared secret key. Attacker cannot forge this signature - their packets are rejected even with the correct TxID and port.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29"/>
          <p:cNvSpPr/>
          <p:nvPr/>
        </p:nvSpPr>
        <p:spPr>
          <a:xfrm>
            <a:off x="0" y="4937760"/>
            <a:ext cx="9142560" cy="20448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0"/>
          <p:cNvSpPr/>
          <p:nvPr/>
        </p:nvSpPr>
        <p:spPr>
          <a:xfrm>
            <a:off x="365760" y="4937760"/>
            <a:ext cx="84110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Combined entropy: ~32,000 ports × 65,536 TxIDs = ~1.85 Billion combinations + cryptographic TSIG verification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274320" y="91440"/>
            <a:ext cx="410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07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2"/>
          <p:cNvSpPr/>
          <p:nvPr/>
        </p:nvSpPr>
        <p:spPr>
          <a:xfrm>
            <a:off x="804600" y="6408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Defensive Strategy - Live Demonstration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3"/>
          <p:cNvSpPr/>
          <p:nvPr/>
        </p:nvSpPr>
        <p:spPr>
          <a:xfrm>
            <a:off x="804600" y="402480"/>
            <a:ext cx="8045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Same attack script, same threads - pointed at the Hardened Host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4"/>
          <p:cNvSpPr/>
          <p:nvPr/>
        </p:nvSpPr>
        <p:spPr>
          <a:xfrm>
            <a:off x="365760" y="786240"/>
            <a:ext cx="5027760" cy="4131720"/>
          </a:xfrm>
          <a:prstGeom prst="rect">
            <a:avLst/>
          </a:prstGeom>
          <a:solidFill>
            <a:srgbClr val="ffffff"/>
          </a:solidFill>
          <a:ln w="889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5"/>
          <p:cNvSpPr/>
          <p:nvPr/>
        </p:nvSpPr>
        <p:spPr>
          <a:xfrm>
            <a:off x="365760" y="786240"/>
            <a:ext cx="5027760" cy="382680"/>
          </a:xfrm>
          <a:prstGeom prst="rect">
            <a:avLst/>
          </a:prstGeom>
          <a:solidFill>
            <a:srgbClr val="bbe33d">
              <a:alpha val="85000"/>
            </a:srgbClr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6"/>
          <p:cNvSpPr/>
          <p:nvPr/>
        </p:nvSpPr>
        <p:spPr>
          <a:xfrm>
            <a:off x="502920" y="786240"/>
            <a:ext cx="47534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What the Hardened Host Does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7"/>
          <p:cNvSpPr/>
          <p:nvPr/>
        </p:nvSpPr>
        <p:spPr>
          <a:xfrm>
            <a:off x="502920" y="1261800"/>
            <a:ext cx="4753440" cy="59292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8"/>
          <p:cNvSpPr/>
          <p:nvPr/>
        </p:nvSpPr>
        <p:spPr>
          <a:xfrm>
            <a:off x="502920" y="1261800"/>
            <a:ext cx="48960" cy="59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9"/>
          <p:cNvSpPr/>
          <p:nvPr/>
        </p:nvSpPr>
        <p:spPr>
          <a:xfrm>
            <a:off x="685800" y="1316880"/>
            <a:ext cx="4433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Source-IP check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10"/>
          <p:cNvSpPr/>
          <p:nvPr/>
        </p:nvSpPr>
        <p:spPr>
          <a:xfrm>
            <a:off x="685800" y="1554480"/>
            <a:ext cx="4433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Packet not from 10.0.0.5? → Dropped immediately, not even parsed.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1"/>
          <p:cNvSpPr/>
          <p:nvPr/>
        </p:nvSpPr>
        <p:spPr>
          <a:xfrm>
            <a:off x="502920" y="1947600"/>
            <a:ext cx="4753440" cy="59292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2"/>
          <p:cNvSpPr/>
          <p:nvPr/>
        </p:nvSpPr>
        <p:spPr>
          <a:xfrm>
            <a:off x="502920" y="1947600"/>
            <a:ext cx="48960" cy="59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3"/>
          <p:cNvSpPr/>
          <p:nvPr/>
        </p:nvSpPr>
        <p:spPr>
          <a:xfrm>
            <a:off x="685800" y="2002680"/>
            <a:ext cx="4433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TxID validation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4"/>
          <p:cNvSpPr/>
          <p:nvPr/>
        </p:nvSpPr>
        <p:spPr>
          <a:xfrm>
            <a:off x="685800" y="2240280"/>
            <a:ext cx="4433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Random port means attacker can't aim the spoofed reply correctly - TxID never matches.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5"/>
          <p:cNvSpPr/>
          <p:nvPr/>
        </p:nvSpPr>
        <p:spPr>
          <a:xfrm>
            <a:off x="502920" y="2633400"/>
            <a:ext cx="4753440" cy="59292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6"/>
          <p:cNvSpPr/>
          <p:nvPr/>
        </p:nvSpPr>
        <p:spPr>
          <a:xfrm>
            <a:off x="502920" y="2633400"/>
            <a:ext cx="48960" cy="59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17"/>
          <p:cNvSpPr/>
          <p:nvPr/>
        </p:nvSpPr>
        <p:spPr>
          <a:xfrm>
            <a:off x="685800" y="2688480"/>
            <a:ext cx="4433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TSIG verification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18"/>
          <p:cNvSpPr/>
          <p:nvPr/>
        </p:nvSpPr>
        <p:spPr>
          <a:xfrm>
            <a:off x="685800" y="2926080"/>
            <a:ext cx="4433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Packet has no valid HMAC-SHA256 signature? → Logged as "invalid_tsig" and discarded.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19"/>
          <p:cNvSpPr/>
          <p:nvPr/>
        </p:nvSpPr>
        <p:spPr>
          <a:xfrm>
            <a:off x="502920" y="3319200"/>
            <a:ext cx="4753440" cy="59292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20"/>
          <p:cNvSpPr/>
          <p:nvPr/>
        </p:nvSpPr>
        <p:spPr>
          <a:xfrm>
            <a:off x="502920" y="3319200"/>
            <a:ext cx="48960" cy="59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21"/>
          <p:cNvSpPr/>
          <p:nvPr/>
        </p:nvSpPr>
        <p:spPr>
          <a:xfrm>
            <a:off x="685800" y="3374280"/>
            <a:ext cx="4433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d97706"/>
                </a:solidFill>
                <a:latin typeface="Calibri"/>
                <a:ea typeface="Calibri"/>
              </a:rPr>
              <a:t>Rate limiter fires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22"/>
          <p:cNvSpPr/>
          <p:nvPr/>
        </p:nvSpPr>
        <p:spPr>
          <a:xfrm>
            <a:off x="685800" y="3611880"/>
            <a:ext cx="4433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Trigger-query flooding slowed to 20 q/s per client - attack window narrows further.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3"/>
          <p:cNvSpPr/>
          <p:nvPr/>
        </p:nvSpPr>
        <p:spPr>
          <a:xfrm>
            <a:off x="502920" y="4005000"/>
            <a:ext cx="4753440" cy="59292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24"/>
          <p:cNvSpPr/>
          <p:nvPr/>
        </p:nvSpPr>
        <p:spPr>
          <a:xfrm>
            <a:off x="502920" y="4005000"/>
            <a:ext cx="48960" cy="59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25"/>
          <p:cNvSpPr/>
          <p:nvPr/>
        </p:nvSpPr>
        <p:spPr>
          <a:xfrm>
            <a:off x="685800" y="4060080"/>
            <a:ext cx="4433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Cache stays clean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26"/>
          <p:cNvSpPr/>
          <p:nvPr/>
        </p:nvSpPr>
        <p:spPr>
          <a:xfrm>
            <a:off x="685800" y="4297680"/>
            <a:ext cx="44334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No poisoned record ever gets stored - victim2 always gets the real IP 1.2.3.4.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7"/>
          <p:cNvSpPr/>
          <p:nvPr/>
        </p:nvSpPr>
        <p:spPr>
          <a:xfrm>
            <a:off x="5577840" y="786240"/>
            <a:ext cx="3198960" cy="4131720"/>
          </a:xfrm>
          <a:prstGeom prst="rect">
            <a:avLst/>
          </a:prstGeom>
          <a:solidFill>
            <a:srgbClr val="ffffff"/>
          </a:solidFill>
          <a:ln w="762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28"/>
          <p:cNvSpPr/>
          <p:nvPr/>
        </p:nvSpPr>
        <p:spPr>
          <a:xfrm>
            <a:off x="5577840" y="786240"/>
            <a:ext cx="3198960" cy="38268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29"/>
          <p:cNvSpPr/>
          <p:nvPr/>
        </p:nvSpPr>
        <p:spPr>
          <a:xfrm>
            <a:off x="5669280" y="786240"/>
            <a:ext cx="30160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Dashboard Comparison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30"/>
          <p:cNvSpPr/>
          <p:nvPr/>
        </p:nvSpPr>
        <p:spPr>
          <a:xfrm>
            <a:off x="5577840" y="1225440"/>
            <a:ext cx="3198960" cy="27288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31"/>
          <p:cNvSpPr/>
          <p:nvPr/>
        </p:nvSpPr>
        <p:spPr>
          <a:xfrm>
            <a:off x="6492240" y="1225440"/>
            <a:ext cx="10958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dc2626"/>
                </a:solidFill>
                <a:latin typeface="Consolas"/>
                <a:ea typeface="Consolas"/>
              </a:rPr>
              <a:t>VULNERABLE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32"/>
          <p:cNvSpPr/>
          <p:nvPr/>
        </p:nvSpPr>
        <p:spPr>
          <a:xfrm>
            <a:off x="7635240" y="12254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6a34a"/>
                </a:solidFill>
                <a:latin typeface="Consolas"/>
                <a:ea typeface="Consolas"/>
              </a:rPr>
              <a:t>HARDENED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3"/>
          <p:cNvSpPr/>
          <p:nvPr/>
        </p:nvSpPr>
        <p:spPr>
          <a:xfrm>
            <a:off x="5577840" y="1536120"/>
            <a:ext cx="3198960" cy="474120"/>
          </a:xfrm>
          <a:prstGeom prst="rect">
            <a:avLst/>
          </a:prstGeom>
          <a:solidFill>
            <a:srgbClr val="ffffff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34"/>
          <p:cNvSpPr/>
          <p:nvPr/>
        </p:nvSpPr>
        <p:spPr>
          <a:xfrm>
            <a:off x="5650920" y="1536120"/>
            <a:ext cx="8672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Attack packets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35"/>
          <p:cNvSpPr/>
          <p:nvPr/>
        </p:nvSpPr>
        <p:spPr>
          <a:xfrm>
            <a:off x="6537960" y="153612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Thousands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36"/>
          <p:cNvSpPr/>
          <p:nvPr/>
        </p:nvSpPr>
        <p:spPr>
          <a:xfrm>
            <a:off x="7635240" y="153612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All blocked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37"/>
          <p:cNvSpPr/>
          <p:nvPr/>
        </p:nvSpPr>
        <p:spPr>
          <a:xfrm>
            <a:off x="5577840" y="2057400"/>
            <a:ext cx="3198960" cy="474120"/>
          </a:xfrm>
          <a:prstGeom prst="rect">
            <a:avLst/>
          </a:prstGeom>
          <a:solidFill>
            <a:srgbClr val="f8fafc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38"/>
          <p:cNvSpPr/>
          <p:nvPr/>
        </p:nvSpPr>
        <p:spPr>
          <a:xfrm>
            <a:off x="5650920" y="2057400"/>
            <a:ext cx="8672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Cache status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39"/>
          <p:cNvSpPr/>
          <p:nvPr/>
        </p:nvSpPr>
        <p:spPr>
          <a:xfrm>
            <a:off x="6537960" y="205740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POISONED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40"/>
          <p:cNvSpPr/>
          <p:nvPr/>
        </p:nvSpPr>
        <p:spPr>
          <a:xfrm>
            <a:off x="7635240" y="205740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 </a:t>
            </a: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CLEAN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41"/>
          <p:cNvSpPr/>
          <p:nvPr/>
        </p:nvSpPr>
        <p:spPr>
          <a:xfrm>
            <a:off x="5577840" y="2578680"/>
            <a:ext cx="3198960" cy="474120"/>
          </a:xfrm>
          <a:prstGeom prst="rect">
            <a:avLst/>
          </a:prstGeom>
          <a:solidFill>
            <a:srgbClr val="ffffff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42"/>
          <p:cNvSpPr/>
          <p:nvPr/>
        </p:nvSpPr>
        <p:spPr>
          <a:xfrm>
            <a:off x="5650920" y="2578680"/>
            <a:ext cx="8672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IP in cache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43"/>
          <p:cNvSpPr/>
          <p:nvPr/>
        </p:nvSpPr>
        <p:spPr>
          <a:xfrm>
            <a:off x="6537960" y="257868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10.0.0.4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44"/>
          <p:cNvSpPr/>
          <p:nvPr/>
        </p:nvSpPr>
        <p:spPr>
          <a:xfrm>
            <a:off x="7635240" y="257868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1.2.3.4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45"/>
          <p:cNvSpPr/>
          <p:nvPr/>
        </p:nvSpPr>
        <p:spPr>
          <a:xfrm>
            <a:off x="5577840" y="3099960"/>
            <a:ext cx="3198960" cy="474120"/>
          </a:xfrm>
          <a:prstGeom prst="rect">
            <a:avLst/>
          </a:prstGeom>
          <a:solidFill>
            <a:srgbClr val="f8fafc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46"/>
          <p:cNvSpPr/>
          <p:nvPr/>
        </p:nvSpPr>
        <p:spPr>
          <a:xfrm>
            <a:off x="5650920" y="3099960"/>
            <a:ext cx="8672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Alert type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47"/>
          <p:cNvSpPr/>
          <p:nvPr/>
        </p:nvSpPr>
        <p:spPr>
          <a:xfrm>
            <a:off x="6537960" y="309996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poisoned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48"/>
          <p:cNvSpPr/>
          <p:nvPr/>
        </p:nvSpPr>
        <p:spPr>
          <a:xfrm>
            <a:off x="7635240" y="309996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97706"/>
                </a:solidFill>
                <a:latin typeface="Consolas"/>
                <a:ea typeface="Consolas"/>
              </a:rPr>
              <a:t>blocked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49"/>
          <p:cNvSpPr/>
          <p:nvPr/>
        </p:nvSpPr>
        <p:spPr>
          <a:xfrm>
            <a:off x="5577840" y="3620880"/>
            <a:ext cx="3198960" cy="474120"/>
          </a:xfrm>
          <a:prstGeom prst="rect">
            <a:avLst/>
          </a:prstGeom>
          <a:solidFill>
            <a:srgbClr val="ffffff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50"/>
          <p:cNvSpPr/>
          <p:nvPr/>
        </p:nvSpPr>
        <p:spPr>
          <a:xfrm>
            <a:off x="5650920" y="3620880"/>
            <a:ext cx="8672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victim resolves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51"/>
          <p:cNvSpPr/>
          <p:nvPr/>
        </p:nvSpPr>
        <p:spPr>
          <a:xfrm>
            <a:off x="6537960" y="362088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Phishing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52"/>
          <p:cNvSpPr/>
          <p:nvPr/>
        </p:nvSpPr>
        <p:spPr>
          <a:xfrm>
            <a:off x="7635240" y="362088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6b7280"/>
                </a:solidFill>
                <a:latin typeface="Consolas"/>
                <a:ea typeface="Consolas"/>
              </a:rPr>
              <a:t>-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53"/>
          <p:cNvSpPr/>
          <p:nvPr/>
        </p:nvSpPr>
        <p:spPr>
          <a:xfrm>
            <a:off x="5577840" y="4142160"/>
            <a:ext cx="3198960" cy="474120"/>
          </a:xfrm>
          <a:prstGeom prst="rect">
            <a:avLst/>
          </a:prstGeom>
          <a:solidFill>
            <a:srgbClr val="f8fafc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54"/>
          <p:cNvSpPr/>
          <p:nvPr/>
        </p:nvSpPr>
        <p:spPr>
          <a:xfrm>
            <a:off x="5650920" y="4142160"/>
            <a:ext cx="8672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victim2 resolves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55"/>
          <p:cNvSpPr/>
          <p:nvPr/>
        </p:nvSpPr>
        <p:spPr>
          <a:xfrm>
            <a:off x="6537960" y="414216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6b7280"/>
                </a:solidFill>
                <a:latin typeface="Consolas"/>
                <a:ea typeface="Consolas"/>
              </a:rPr>
              <a:t>-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56"/>
          <p:cNvSpPr/>
          <p:nvPr/>
        </p:nvSpPr>
        <p:spPr>
          <a:xfrm>
            <a:off x="7635240" y="4142160"/>
            <a:ext cx="10501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Real site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57"/>
          <p:cNvSpPr/>
          <p:nvPr/>
        </p:nvSpPr>
        <p:spPr>
          <a:xfrm>
            <a:off x="0" y="4937760"/>
            <a:ext cx="9142560" cy="20448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58"/>
          <p:cNvSpPr/>
          <p:nvPr/>
        </p:nvSpPr>
        <p:spPr>
          <a:xfrm>
            <a:off x="365760" y="4937760"/>
            <a:ext cx="84110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python3 attack.py &lt;domain&gt; 10.0.0.4 --target both --threads 8  →  vulnerable: POISONED  ·  hardened: BLOCKED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274320" y="91440"/>
            <a:ext cx="410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08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804600" y="6408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The Ultimate Solution - DNSSEC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365760" y="768240"/>
            <a:ext cx="84110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Our hardened host uses random ports + TSIG - the globally accepted industry standard goes further: DNSSEC.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365760" y="1078920"/>
            <a:ext cx="8411040" cy="1168920"/>
          </a:xfrm>
          <a:prstGeom prst="rect">
            <a:avLst/>
          </a:prstGeom>
          <a:solidFill>
            <a:srgbClr val="dbeafe"/>
          </a:solidFill>
          <a:ln w="762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365760" y="1078920"/>
            <a:ext cx="53280" cy="1168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67000" y="1152000"/>
            <a:ext cx="795384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56db"/>
                </a:solidFill>
                <a:latin typeface="Calibri"/>
                <a:ea typeface="Calibri"/>
              </a:rPr>
              <a:t>What DNSSEC Does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567000" y="1435680"/>
            <a:ext cx="79538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DNSSEC adds a cryptographic digital signature (using Public/Private key pairs) to every DNS record at the authoritative server. The resolver verifies this signature before caching any response. A forged packet - even one with a perfectly guessed port and TxID - will fail this check because the attacker does not have the zone's Private Key.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8"/>
          <p:cNvSpPr/>
          <p:nvPr/>
        </p:nvSpPr>
        <p:spPr>
          <a:xfrm>
            <a:off x="365760" y="2395800"/>
            <a:ext cx="8411040" cy="3276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9"/>
          <p:cNvSpPr/>
          <p:nvPr/>
        </p:nvSpPr>
        <p:spPr>
          <a:xfrm>
            <a:off x="502920" y="2395800"/>
            <a:ext cx="24674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Mechanism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10"/>
          <p:cNvSpPr/>
          <p:nvPr/>
        </p:nvSpPr>
        <p:spPr>
          <a:xfrm>
            <a:off x="3108960" y="2395800"/>
            <a:ext cx="33818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What it protects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11"/>
          <p:cNvSpPr/>
          <p:nvPr/>
        </p:nvSpPr>
        <p:spPr>
          <a:xfrm>
            <a:off x="6675120" y="2395800"/>
            <a:ext cx="19188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Still breakable?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12"/>
          <p:cNvSpPr/>
          <p:nvPr/>
        </p:nvSpPr>
        <p:spPr>
          <a:xfrm>
            <a:off x="365760" y="2770560"/>
            <a:ext cx="8411040" cy="45576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502920" y="27705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Port Randomization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3108960" y="2770560"/>
            <a:ext cx="3381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Makes guessing the port hard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5"/>
          <p:cNvSpPr/>
          <p:nvPr/>
        </p:nvSpPr>
        <p:spPr>
          <a:xfrm>
            <a:off x="6675120" y="2862000"/>
            <a:ext cx="1918800" cy="254520"/>
          </a:xfrm>
          <a:prstGeom prst="rect">
            <a:avLst/>
          </a:prstGeom>
          <a:solidFill>
            <a:srgbClr val="fef3c7"/>
          </a:solidFill>
          <a:ln w="508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16"/>
          <p:cNvSpPr/>
          <p:nvPr/>
        </p:nvSpPr>
        <p:spPr>
          <a:xfrm>
            <a:off x="6675120" y="2862000"/>
            <a:ext cx="1918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97706"/>
                </a:solidFill>
                <a:latin typeface="Calibri"/>
                <a:ea typeface="Calibri"/>
              </a:rPr>
              <a:t>Yes - brute-force (impractical)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7"/>
          <p:cNvSpPr/>
          <p:nvPr/>
        </p:nvSpPr>
        <p:spPr>
          <a:xfrm>
            <a:off x="365760" y="3273480"/>
            <a:ext cx="8411040" cy="45576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18"/>
          <p:cNvSpPr/>
          <p:nvPr/>
        </p:nvSpPr>
        <p:spPr>
          <a:xfrm>
            <a:off x="502920" y="32734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CSPRNG TxID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19"/>
          <p:cNvSpPr/>
          <p:nvPr/>
        </p:nvSpPr>
        <p:spPr>
          <a:xfrm>
            <a:off x="3108960" y="3273480"/>
            <a:ext cx="3381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Full 65,536 ID space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20"/>
          <p:cNvSpPr/>
          <p:nvPr/>
        </p:nvSpPr>
        <p:spPr>
          <a:xfrm>
            <a:off x="6675120" y="3364920"/>
            <a:ext cx="1918800" cy="254520"/>
          </a:xfrm>
          <a:prstGeom prst="rect">
            <a:avLst/>
          </a:prstGeom>
          <a:solidFill>
            <a:srgbClr val="fef3c7"/>
          </a:solidFill>
          <a:ln w="508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21"/>
          <p:cNvSpPr/>
          <p:nvPr/>
        </p:nvSpPr>
        <p:spPr>
          <a:xfrm>
            <a:off x="6675120" y="3364920"/>
            <a:ext cx="1918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97706"/>
                </a:solidFill>
                <a:latin typeface="Calibri"/>
                <a:ea typeface="Calibri"/>
              </a:rPr>
              <a:t>Yes - statistically (impractical)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22"/>
          <p:cNvSpPr/>
          <p:nvPr/>
        </p:nvSpPr>
        <p:spPr>
          <a:xfrm>
            <a:off x="365760" y="3776400"/>
            <a:ext cx="8411040" cy="455760"/>
          </a:xfrm>
          <a:prstGeom prst="rect">
            <a:avLst/>
          </a:prstGeom>
          <a:solidFill>
            <a:srgbClr val="dbeafe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23"/>
          <p:cNvSpPr/>
          <p:nvPr/>
        </p:nvSpPr>
        <p:spPr>
          <a:xfrm>
            <a:off x="365760" y="3776400"/>
            <a:ext cx="48960" cy="45576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24"/>
          <p:cNvSpPr/>
          <p:nvPr/>
        </p:nvSpPr>
        <p:spPr>
          <a:xfrm>
            <a:off x="502920" y="377640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TSIG (Our Hardened Host)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25"/>
          <p:cNvSpPr/>
          <p:nvPr/>
        </p:nvSpPr>
        <p:spPr>
          <a:xfrm>
            <a:off x="3108960" y="3776400"/>
            <a:ext cx="3381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Cryptographic response signing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6"/>
          <p:cNvSpPr/>
          <p:nvPr/>
        </p:nvSpPr>
        <p:spPr>
          <a:xfrm>
            <a:off x="6675120" y="3867840"/>
            <a:ext cx="1918800" cy="254520"/>
          </a:xfrm>
          <a:prstGeom prst="rect">
            <a:avLst/>
          </a:prstGeom>
          <a:solidFill>
            <a:srgbClr val="dcfce7"/>
          </a:solidFill>
          <a:ln w="508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27"/>
          <p:cNvSpPr/>
          <p:nvPr/>
        </p:nvSpPr>
        <p:spPr>
          <a:xfrm>
            <a:off x="6675120" y="3867840"/>
            <a:ext cx="1918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6a34a"/>
                </a:solidFill>
                <a:latin typeface="Calibri"/>
                <a:ea typeface="Calibri"/>
              </a:rPr>
              <a:t>No - can't forge without key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8"/>
          <p:cNvSpPr/>
          <p:nvPr/>
        </p:nvSpPr>
        <p:spPr>
          <a:xfrm>
            <a:off x="365760" y="4279320"/>
            <a:ext cx="8411040" cy="455760"/>
          </a:xfrm>
          <a:prstGeom prst="rect">
            <a:avLst/>
          </a:prstGeom>
          <a:solidFill>
            <a:srgbClr val="dbeafe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29"/>
          <p:cNvSpPr/>
          <p:nvPr/>
        </p:nvSpPr>
        <p:spPr>
          <a:xfrm>
            <a:off x="365760" y="4279320"/>
            <a:ext cx="48960" cy="45576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30"/>
          <p:cNvSpPr/>
          <p:nvPr/>
        </p:nvSpPr>
        <p:spPr>
          <a:xfrm>
            <a:off x="502920" y="427932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DNSSEC (Industry Standard)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31"/>
          <p:cNvSpPr/>
          <p:nvPr/>
        </p:nvSpPr>
        <p:spPr>
          <a:xfrm>
            <a:off x="3108960" y="4279320"/>
            <a:ext cx="3381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Full PKI chain of trust end-to-end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32"/>
          <p:cNvSpPr/>
          <p:nvPr/>
        </p:nvSpPr>
        <p:spPr>
          <a:xfrm>
            <a:off x="6675120" y="4370760"/>
            <a:ext cx="1918800" cy="254520"/>
          </a:xfrm>
          <a:prstGeom prst="rect">
            <a:avLst/>
          </a:prstGeom>
          <a:solidFill>
            <a:srgbClr val="dcfce7"/>
          </a:solidFill>
          <a:ln w="508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33"/>
          <p:cNvSpPr/>
          <p:nvPr/>
        </p:nvSpPr>
        <p:spPr>
          <a:xfrm>
            <a:off x="6675120" y="4370760"/>
            <a:ext cx="1918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6a34a"/>
                </a:solidFill>
                <a:latin typeface="Calibri"/>
                <a:ea typeface="Calibri"/>
              </a:rPr>
              <a:t>No - impossible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34"/>
          <p:cNvSpPr/>
          <p:nvPr/>
        </p:nvSpPr>
        <p:spPr>
          <a:xfrm>
            <a:off x="0" y="4937760"/>
            <a:ext cx="9142560" cy="20448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35"/>
          <p:cNvSpPr/>
          <p:nvPr/>
        </p:nvSpPr>
        <p:spPr>
          <a:xfrm>
            <a:off x="365760" y="4937760"/>
            <a:ext cx="8411040" cy="2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DNSSEC is enforced by ICANN and is the globally deployed standard - BIND9 / Unbound both support it natively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274320" y="91440"/>
            <a:ext cx="410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09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2"/>
          <p:cNvSpPr/>
          <p:nvPr/>
        </p:nvSpPr>
        <p:spPr>
          <a:xfrm>
            <a:off x="804600" y="64080"/>
            <a:ext cx="8045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Conclusion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3"/>
          <p:cNvSpPr/>
          <p:nvPr/>
        </p:nvSpPr>
        <p:spPr>
          <a:xfrm>
            <a:off x="365760" y="720000"/>
            <a:ext cx="8411040" cy="949680"/>
          </a:xfrm>
          <a:prstGeom prst="rect">
            <a:avLst/>
          </a:prstGeom>
          <a:solidFill>
            <a:srgbClr val="ffffff"/>
          </a:solidFill>
          <a:ln w="762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4"/>
          <p:cNvSpPr/>
          <p:nvPr/>
        </p:nvSpPr>
        <p:spPr>
          <a:xfrm>
            <a:off x="365760" y="720000"/>
            <a:ext cx="53280" cy="949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060560" y="824400"/>
            <a:ext cx="74052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Calibri"/>
                <a:ea typeface="Calibri"/>
              </a:rPr>
              <a:t>The Threat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1060560" y="1207080"/>
            <a:ext cx="74052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DNS Cache Poisoning is a race condition that exploits the inherent trust in the old DNS design - the resolver accepts the first matching response, no questions asked.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8"/>
          <p:cNvSpPr/>
          <p:nvPr/>
        </p:nvSpPr>
        <p:spPr>
          <a:xfrm>
            <a:off x="365760" y="1749240"/>
            <a:ext cx="8411040" cy="949680"/>
          </a:xfrm>
          <a:prstGeom prst="rect">
            <a:avLst/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9"/>
          <p:cNvSpPr/>
          <p:nvPr/>
        </p:nvSpPr>
        <p:spPr>
          <a:xfrm>
            <a:off x="365760" y="1755360"/>
            <a:ext cx="53280" cy="949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10"/>
          <p:cNvSpPr/>
          <p:nvPr/>
        </p:nvSpPr>
        <p:spPr>
          <a:xfrm>
            <a:off x="567000" y="1800000"/>
            <a:ext cx="38268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11"/>
          <p:cNvSpPr/>
          <p:nvPr/>
        </p:nvSpPr>
        <p:spPr>
          <a:xfrm>
            <a:off x="1060560" y="1956960"/>
            <a:ext cx="74052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97706"/>
                </a:solidFill>
                <a:latin typeface="Calibri"/>
                <a:ea typeface="Calibri"/>
              </a:rPr>
              <a:t>The Flaw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12"/>
          <p:cNvSpPr/>
          <p:nvPr/>
        </p:nvSpPr>
        <p:spPr>
          <a:xfrm>
            <a:off x="1060560" y="2267640"/>
            <a:ext cx="74052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Predictability enables the attack - a known fixed port and a tiny TxID range reduce the search space to just 51 packets. Attack succeeds in under 5 seconds.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13"/>
          <p:cNvSpPr/>
          <p:nvPr/>
        </p:nvSpPr>
        <p:spPr>
          <a:xfrm>
            <a:off x="365760" y="2829240"/>
            <a:ext cx="8411040" cy="949680"/>
          </a:xfrm>
          <a:prstGeom prst="rect">
            <a:avLst/>
          </a:prstGeom>
          <a:solidFill>
            <a:srgbClr val="ffffff"/>
          </a:solidFill>
          <a:ln w="762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4"/>
          <p:cNvSpPr/>
          <p:nvPr/>
        </p:nvSpPr>
        <p:spPr>
          <a:xfrm>
            <a:off x="365760" y="2829240"/>
            <a:ext cx="53280" cy="949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16"/>
          <p:cNvSpPr/>
          <p:nvPr/>
        </p:nvSpPr>
        <p:spPr>
          <a:xfrm>
            <a:off x="1060560" y="3017520"/>
            <a:ext cx="74052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56db"/>
                </a:solidFill>
                <a:latin typeface="Calibri"/>
                <a:ea typeface="Calibri"/>
              </a:rPr>
              <a:t>The Defensive Fix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17"/>
          <p:cNvSpPr/>
          <p:nvPr/>
        </p:nvSpPr>
        <p:spPr>
          <a:xfrm>
            <a:off x="1060560" y="3328560"/>
            <a:ext cx="74052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Unpredictability + Cryptography: random ports, full 65,536 TxID entropy, and TSIG/HMAC-SHA256 signatures raise the bar to ~1.85 billion combinations and make forging impossible.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8"/>
          <p:cNvSpPr/>
          <p:nvPr/>
        </p:nvSpPr>
        <p:spPr>
          <a:xfrm>
            <a:off x="360000" y="3909240"/>
            <a:ext cx="8411040" cy="949680"/>
          </a:xfrm>
          <a:prstGeom prst="rect">
            <a:avLst/>
          </a:prstGeom>
          <a:solidFill>
            <a:srgbClr val="ffffff"/>
          </a:solidFill>
          <a:ln w="762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19"/>
          <p:cNvSpPr/>
          <p:nvPr/>
        </p:nvSpPr>
        <p:spPr>
          <a:xfrm>
            <a:off x="365760" y="3909240"/>
            <a:ext cx="53280" cy="9496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20"/>
          <p:cNvSpPr/>
          <p:nvPr/>
        </p:nvSpPr>
        <p:spPr>
          <a:xfrm>
            <a:off x="567000" y="40600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21"/>
          <p:cNvSpPr/>
          <p:nvPr/>
        </p:nvSpPr>
        <p:spPr>
          <a:xfrm>
            <a:off x="1060560" y="3960000"/>
            <a:ext cx="74052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a34a"/>
                </a:solidFill>
                <a:latin typeface="Calibri"/>
                <a:ea typeface="Calibri"/>
              </a:rPr>
              <a:t>The Proof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22"/>
          <p:cNvSpPr/>
          <p:nvPr/>
        </p:nvSpPr>
        <p:spPr>
          <a:xfrm>
            <a:off x="1060560" y="4389120"/>
            <a:ext cx="74052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Our isolated Docker lab demonstrated both the critical weakness and the mathematical defense live - same script, same power, targeted at both hosts simultaneously.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23"/>
          <p:cNvSpPr/>
          <p:nvPr/>
        </p:nvSpPr>
        <p:spPr>
          <a:xfrm>
            <a:off x="0" y="4892040"/>
            <a:ext cx="9142560" cy="2502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24"/>
          <p:cNvSpPr/>
          <p:nvPr/>
        </p:nvSpPr>
        <p:spPr>
          <a:xfrm>
            <a:off x="274320" y="4892040"/>
            <a:ext cx="86853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b82f6"/>
                </a:solidFill>
                <a:latin typeface="Calibri"/>
                <a:ea typeface="Calibri"/>
              </a:rPr>
              <a:t>Demo conducted in an isolated Docker network - no real systems were affected  ·  Information Security · Assignment 2 · 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2026-04-11T15:35:28Z</dcterms:created>
  <dc:creator>Dhruv</dc:creator>
  <dc:description/>
  <dc:language>en-IN</dc:language>
  <cp:lastModifiedBy/>
  <dcterms:modified xsi:type="dcterms:W3CDTF">2026-04-12T10:46:53Z</dcterms:modified>
  <cp:revision>8</cp:revision>
  <dc:subject>PptxGenJS Presentation</dc:subject>
  <dc:title>DNS Cache Poisoning — Assignment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